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8"/>
  </p:notesMasterIdLst>
  <p:sldIdLst>
    <p:sldId id="256" r:id="rId2"/>
    <p:sldId id="257" r:id="rId3"/>
    <p:sldId id="258" r:id="rId4"/>
    <p:sldId id="259" r:id="rId5"/>
    <p:sldId id="269" r:id="rId6"/>
    <p:sldId id="270" r:id="rId7"/>
    <p:sldId id="271" r:id="rId8"/>
    <p:sldId id="260" r:id="rId9"/>
    <p:sldId id="261" r:id="rId10"/>
    <p:sldId id="262" r:id="rId11"/>
    <p:sldId id="263" r:id="rId12"/>
    <p:sldId id="264" r:id="rId13"/>
    <p:sldId id="265" r:id="rId14"/>
    <p:sldId id="268" r:id="rId15"/>
    <p:sldId id="266" r:id="rId16"/>
    <p:sldId id="267" r:id="rId17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81" d="100"/>
          <a:sy n="81" d="100"/>
        </p:scale>
        <p:origin x="648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69072423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hyperlink" Target="mailto:minajohn949@gmail.com" TargetMode="Externa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.png"/><Relationship Id="rId5" Type="http://schemas.openxmlformats.org/officeDocument/2006/relationships/hyperlink" Target="http://www.linkedin.com/in/mina-john-9201aa320" TargetMode="External"/><Relationship Id="rId4" Type="http://schemas.openxmlformats.org/officeDocument/2006/relationships/hyperlink" Target="https://github.com/mina-john-emil" TargetMode="Externa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hyperlink" Target="https://cp.certmetrics.com/amazon/en/public/verify/credential/e967439ee02042ba84f660ac2e4f2e4b" TargetMode="External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5" Type="http://schemas.openxmlformats.org/officeDocument/2006/relationships/hyperlink" Target="https://cp.certmetrics.com/amazon/en/public/verify/credential/ec12e58fe35944d7a627566efce4f9fb" TargetMode="External"/><Relationship Id="rId4" Type="http://schemas.openxmlformats.org/officeDocument/2006/relationships/hyperlink" Target="https://cp.certmetrics.com/amazon/en/public/verify/credential/2d296787beaf49c59c4c83590e36f2a7" TargetMode="Externa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hyperlink" Target="https://catalog-education.oracle.com/ords/certview/sharebadge?id=5E2152DCD7D44AD5E7C7D09A6F43B28FAE6F523E52A7A8592C52FA6DFEA9F3AC" TargetMode="External"/><Relationship Id="rId2" Type="http://schemas.openxmlformats.org/officeDocument/2006/relationships/hyperlink" Target="https://catalog-education.oracle.com/ords/certview/sharebadge?id=0447027BE7E13D9D7B670A74653C593B18E8783B128F56204D41D6D89378482F" TargetMode="External"/><Relationship Id="rId1" Type="http://schemas.openxmlformats.org/officeDocument/2006/relationships/slideLayout" Target="../slideLayouts/slideLayout1.xml"/><Relationship Id="rId4" Type="http://schemas.openxmlformats.org/officeDocument/2006/relationships/hyperlink" Target="https://www.credly.com/badges/5512f8dc-df6c-4962-b85d-42f806fe1245/public_url" TargetMode="Externa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mina-john-emil/3-tier-app.git" TargetMode="External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mina-john-emil/.NET-Microservices-Sample-mina.git" TargetMode="External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hyperlink" Target="mailto:minajohn949@gmail.com" TargetMode="External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.png"/><Relationship Id="rId5" Type="http://schemas.openxmlformats.org/officeDocument/2006/relationships/hyperlink" Target="http://www.linkedin.com/in/mina-john-9201aa320" TargetMode="External"/><Relationship Id="rId4" Type="http://schemas.openxmlformats.org/officeDocument/2006/relationships/hyperlink" Target="https://github.com/mina-john-emil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1371600"/>
            <a:ext cx="2317090" cy="329184"/>
          </a:xfrm>
          <a:prstGeom prst="roundRect">
            <a:avLst>
              <a:gd name="adj" fmla="val 25000"/>
            </a:avLst>
          </a:prstGeom>
          <a:solidFill>
            <a:srgbClr val="2BE0BE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1371600"/>
            <a:ext cx="231709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kern="0" spc="100" dirty="0">
                <a:solidFill>
                  <a:srgbClr val="0724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DEVOPS &amp; MLOPS ENGINEER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02920" y="1828800"/>
            <a:ext cx="78638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EDF1F7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Mina John Emil</a:t>
            </a:r>
            <a:endParaRPr lang="en-US" sz="4000" dirty="0"/>
          </a:p>
        </p:txBody>
      </p:sp>
      <p:sp>
        <p:nvSpPr>
          <p:cNvPr id="5" name="Text 3"/>
          <p:cNvSpPr/>
          <p:nvPr/>
        </p:nvSpPr>
        <p:spPr>
          <a:xfrm>
            <a:off x="502919" y="2743200"/>
            <a:ext cx="7136043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Cloud-native infrastructure, CI/CD automation, and MLOps — built to hold up in production.</a:t>
            </a:r>
            <a:endParaRPr lang="en-US" sz="1500" dirty="0">
              <a:solidFill>
                <a:schemeClr val="bg1"/>
              </a:solidFill>
            </a:endParaRPr>
          </a:p>
        </p:txBody>
      </p:sp>
      <p:sp>
        <p:nvSpPr>
          <p:cNvPr id="6" name="Text 4"/>
          <p:cNvSpPr/>
          <p:nvPr/>
        </p:nvSpPr>
        <p:spPr>
          <a:xfrm>
            <a:off x="502920" y="338328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EDF1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Cairo, Egypt</a:t>
            </a:r>
            <a:r>
              <a:rPr lang="en-US" sz="1200" dirty="0">
                <a:solidFill>
                  <a:srgbClr val="8B96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•   </a:t>
            </a:r>
            <a:r>
              <a:rPr lang="en-US" sz="1200" dirty="0">
                <a:solidFill>
                  <a:srgbClr val="EDF1F7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3"/>
              </a:rPr>
              <a:t>minajohn949@gmail.com</a:t>
            </a:r>
            <a:r>
              <a:rPr lang="en-US" sz="1200" dirty="0">
                <a:solidFill>
                  <a:srgbClr val="8B96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• </a:t>
            </a:r>
            <a:r>
              <a:rPr lang="en-US" sz="1200" dirty="0">
                <a:solidFill>
                  <a:srgbClr val="EDF1F7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4"/>
              </a:rPr>
              <a:t>GitHub </a:t>
            </a:r>
            <a:r>
              <a:rPr lang="en-US" sz="1200" dirty="0">
                <a:solidFill>
                  <a:srgbClr val="8B96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</a:t>
            </a:r>
            <a:r>
              <a:rPr lang="en-US" sz="1200" dirty="0">
                <a:solidFill>
                  <a:srgbClr val="EDF1F7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5"/>
              </a:rPr>
              <a:t>LinkedIn</a:t>
            </a:r>
            <a:endParaRPr lang="en-US" sz="1200" dirty="0"/>
          </a:p>
        </p:txBody>
      </p:sp>
      <p:pic>
        <p:nvPicPr>
          <p:cNvPr id="7" name="Image 0" descr="/home/claude/unpacked/ppt/media/image1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052560" y="1463040"/>
            <a:ext cx="2148840" cy="2148840"/>
          </a:xfrm>
          <a:prstGeom prst="ellipse">
            <a:avLst/>
          </a:prstGeom>
        </p:spPr>
      </p:pic>
      <p:sp>
        <p:nvSpPr>
          <p:cNvPr id="8" name="Shape 5"/>
          <p:cNvSpPr/>
          <p:nvPr/>
        </p:nvSpPr>
        <p:spPr>
          <a:xfrm>
            <a:off x="9052560" y="1463040"/>
            <a:ext cx="2148840" cy="2148840"/>
          </a:xfrm>
          <a:prstGeom prst="ellipse">
            <a:avLst/>
          </a:prstGeom>
          <a:ln w="25400">
            <a:solidFill>
              <a:srgbClr val="2BE0BE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1247046" y="4654296"/>
            <a:ext cx="109728" cy="109728"/>
          </a:xfrm>
          <a:prstGeom prst="ellipse">
            <a:avLst/>
          </a:prstGeom>
          <a:solidFill>
            <a:srgbClr val="2BE0BE"/>
          </a:solidFill>
          <a:ln w="12700">
            <a:solidFill>
              <a:srgbClr val="2BE0BE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1356774" y="4709160"/>
            <a:ext cx="1488251" cy="0"/>
          </a:xfrm>
          <a:prstGeom prst="line">
            <a:avLst/>
          </a:prstGeom>
          <a:noFill/>
          <a:ln w="15875">
            <a:solidFill>
              <a:srgbClr val="263252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502920" y="4873752"/>
            <a:ext cx="159797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8B96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</a:t>
            </a:r>
            <a:endParaRPr lang="en-US" sz="1000" dirty="0"/>
          </a:p>
        </p:txBody>
      </p:sp>
      <p:sp>
        <p:nvSpPr>
          <p:cNvPr id="12" name="Shape 9"/>
          <p:cNvSpPr/>
          <p:nvPr/>
        </p:nvSpPr>
        <p:spPr>
          <a:xfrm>
            <a:off x="2845025" y="4654296"/>
            <a:ext cx="109728" cy="109728"/>
          </a:xfrm>
          <a:prstGeom prst="ellipse">
            <a:avLst/>
          </a:prstGeom>
          <a:solidFill>
            <a:srgbClr val="1A2540"/>
          </a:solidFill>
          <a:ln w="12700">
            <a:solidFill>
              <a:srgbClr val="2BE0BE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2954753" y="4709160"/>
            <a:ext cx="1488251" cy="0"/>
          </a:xfrm>
          <a:prstGeom prst="line">
            <a:avLst/>
          </a:prstGeom>
          <a:noFill/>
          <a:ln w="15875">
            <a:solidFill>
              <a:srgbClr val="263252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2100899" y="4873752"/>
            <a:ext cx="159797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8B96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</a:t>
            </a:r>
            <a:endParaRPr lang="en-US" sz="1000" dirty="0"/>
          </a:p>
        </p:txBody>
      </p:sp>
      <p:sp>
        <p:nvSpPr>
          <p:cNvPr id="15" name="Shape 12"/>
          <p:cNvSpPr/>
          <p:nvPr/>
        </p:nvSpPr>
        <p:spPr>
          <a:xfrm>
            <a:off x="4443004" y="4654296"/>
            <a:ext cx="109728" cy="109728"/>
          </a:xfrm>
          <a:prstGeom prst="ellipse">
            <a:avLst/>
          </a:prstGeom>
          <a:solidFill>
            <a:srgbClr val="1A2540"/>
          </a:solidFill>
          <a:ln w="12700">
            <a:solidFill>
              <a:srgbClr val="2BE0BE"/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4552732" y="4709160"/>
            <a:ext cx="1488251" cy="0"/>
          </a:xfrm>
          <a:prstGeom prst="line">
            <a:avLst/>
          </a:prstGeom>
          <a:noFill/>
          <a:ln w="15875">
            <a:solidFill>
              <a:srgbClr val="263252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3698879" y="4873752"/>
            <a:ext cx="159797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8B96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integrate</a:t>
            </a:r>
            <a:endParaRPr lang="en-US" sz="1000" dirty="0"/>
          </a:p>
        </p:txBody>
      </p:sp>
      <p:sp>
        <p:nvSpPr>
          <p:cNvPr id="18" name="Shape 15"/>
          <p:cNvSpPr/>
          <p:nvPr/>
        </p:nvSpPr>
        <p:spPr>
          <a:xfrm>
            <a:off x="6040984" y="4654296"/>
            <a:ext cx="109728" cy="109728"/>
          </a:xfrm>
          <a:prstGeom prst="ellipse">
            <a:avLst/>
          </a:prstGeom>
          <a:solidFill>
            <a:srgbClr val="1A2540"/>
          </a:solidFill>
          <a:ln w="12700">
            <a:solidFill>
              <a:srgbClr val="2BE0BE"/>
            </a:solidFill>
            <a:prstDash val="solid"/>
          </a:ln>
        </p:spPr>
      </p:sp>
      <p:sp>
        <p:nvSpPr>
          <p:cNvPr id="19" name="Shape 16"/>
          <p:cNvSpPr/>
          <p:nvPr/>
        </p:nvSpPr>
        <p:spPr>
          <a:xfrm>
            <a:off x="6150712" y="4709160"/>
            <a:ext cx="1488251" cy="0"/>
          </a:xfrm>
          <a:prstGeom prst="line">
            <a:avLst/>
          </a:prstGeom>
          <a:noFill/>
          <a:ln w="15875">
            <a:solidFill>
              <a:srgbClr val="263252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5296858" y="4873752"/>
            <a:ext cx="159797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8B96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deliver</a:t>
            </a:r>
            <a:endParaRPr lang="en-US" sz="1000" dirty="0"/>
          </a:p>
        </p:txBody>
      </p:sp>
      <p:sp>
        <p:nvSpPr>
          <p:cNvPr id="21" name="Shape 18"/>
          <p:cNvSpPr/>
          <p:nvPr/>
        </p:nvSpPr>
        <p:spPr>
          <a:xfrm>
            <a:off x="7638963" y="4654296"/>
            <a:ext cx="109728" cy="109728"/>
          </a:xfrm>
          <a:prstGeom prst="ellipse">
            <a:avLst/>
          </a:prstGeom>
          <a:solidFill>
            <a:srgbClr val="1A2540"/>
          </a:solidFill>
          <a:ln w="12700">
            <a:solidFill>
              <a:srgbClr val="2BE0BE"/>
            </a:solidFill>
            <a:prstDash val="solid"/>
          </a:ln>
        </p:spPr>
      </p:sp>
      <p:sp>
        <p:nvSpPr>
          <p:cNvPr id="22" name="Shape 19"/>
          <p:cNvSpPr/>
          <p:nvPr/>
        </p:nvSpPr>
        <p:spPr>
          <a:xfrm>
            <a:off x="7748691" y="4709160"/>
            <a:ext cx="1488251" cy="0"/>
          </a:xfrm>
          <a:prstGeom prst="line">
            <a:avLst/>
          </a:prstGeom>
          <a:noFill/>
          <a:ln w="15875">
            <a:solidFill>
              <a:srgbClr val="263252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6894837" y="4873752"/>
            <a:ext cx="159797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8B96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orchestrate</a:t>
            </a:r>
            <a:endParaRPr lang="en-US" sz="1000" dirty="0"/>
          </a:p>
        </p:txBody>
      </p:sp>
      <p:sp>
        <p:nvSpPr>
          <p:cNvPr id="24" name="Shape 21"/>
          <p:cNvSpPr/>
          <p:nvPr/>
        </p:nvSpPr>
        <p:spPr>
          <a:xfrm>
            <a:off x="9236942" y="4654296"/>
            <a:ext cx="109728" cy="109728"/>
          </a:xfrm>
          <a:prstGeom prst="ellipse">
            <a:avLst/>
          </a:prstGeom>
          <a:solidFill>
            <a:srgbClr val="1A2540"/>
          </a:solidFill>
          <a:ln w="12700">
            <a:solidFill>
              <a:srgbClr val="2BE0BE"/>
            </a:solidFill>
            <a:prstDash val="solid"/>
          </a:ln>
        </p:spPr>
      </p:sp>
      <p:sp>
        <p:nvSpPr>
          <p:cNvPr id="25" name="Shape 22"/>
          <p:cNvSpPr/>
          <p:nvPr/>
        </p:nvSpPr>
        <p:spPr>
          <a:xfrm>
            <a:off x="9346670" y="4709160"/>
            <a:ext cx="1488251" cy="0"/>
          </a:xfrm>
          <a:prstGeom prst="line">
            <a:avLst/>
          </a:prstGeom>
          <a:noFill/>
          <a:ln w="15875">
            <a:solidFill>
              <a:srgbClr val="263252"/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8492817" y="4873752"/>
            <a:ext cx="159797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8B96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</a:t>
            </a:r>
            <a:endParaRPr lang="en-US" sz="1000" dirty="0"/>
          </a:p>
        </p:txBody>
      </p:sp>
      <p:sp>
        <p:nvSpPr>
          <p:cNvPr id="27" name="Shape 24"/>
          <p:cNvSpPr/>
          <p:nvPr/>
        </p:nvSpPr>
        <p:spPr>
          <a:xfrm>
            <a:off x="10834922" y="4654296"/>
            <a:ext cx="109728" cy="109728"/>
          </a:xfrm>
          <a:prstGeom prst="ellipse">
            <a:avLst/>
          </a:prstGeom>
          <a:solidFill>
            <a:srgbClr val="2BE0BE"/>
          </a:solidFill>
          <a:ln w="12700">
            <a:solidFill>
              <a:srgbClr val="2BE0BE"/>
            </a:solidFill>
            <a:prstDash val="solid"/>
          </a:ln>
        </p:spPr>
      </p:sp>
      <p:sp>
        <p:nvSpPr>
          <p:cNvPr id="28" name="Text 25"/>
          <p:cNvSpPr/>
          <p:nvPr/>
        </p:nvSpPr>
        <p:spPr>
          <a:xfrm>
            <a:off x="10090796" y="4873752"/>
            <a:ext cx="159797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8B96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observe</a:t>
            </a:r>
            <a:endParaRPr lang="en-US" sz="1000" dirty="0"/>
          </a:p>
        </p:txBody>
      </p:sp>
      <p:sp>
        <p:nvSpPr>
          <p:cNvPr id="29" name="Shape 26"/>
          <p:cNvSpPr/>
          <p:nvPr/>
        </p:nvSpPr>
        <p:spPr>
          <a:xfrm>
            <a:off x="502920" y="6473952"/>
            <a:ext cx="64008" cy="64008"/>
          </a:xfrm>
          <a:prstGeom prst="ellipse">
            <a:avLst/>
          </a:prstGeom>
          <a:solidFill>
            <a:srgbClr val="2BE0BE"/>
          </a:solidFill>
          <a:ln/>
        </p:spPr>
      </p:sp>
      <p:sp>
        <p:nvSpPr>
          <p:cNvPr id="30" name="Text 27"/>
          <p:cNvSpPr/>
          <p:nvPr/>
        </p:nvSpPr>
        <p:spPr>
          <a:xfrm>
            <a:off x="649224" y="635508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8B96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Mina John Emil</a:t>
            </a:r>
            <a:endParaRPr lang="en-US" sz="900" dirty="0"/>
          </a:p>
        </p:txBody>
      </p:sp>
      <p:sp>
        <p:nvSpPr>
          <p:cNvPr id="31" name="Text 28"/>
          <p:cNvSpPr/>
          <p:nvPr/>
        </p:nvSpPr>
        <p:spPr>
          <a:xfrm>
            <a:off x="11231575" y="635508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B96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502920"/>
            <a:ext cx="704088" cy="329184"/>
          </a:xfrm>
          <a:prstGeom prst="roundRect">
            <a:avLst>
              <a:gd name="adj" fmla="val 25000"/>
            </a:avLst>
          </a:prstGeom>
          <a:solidFill>
            <a:srgbClr val="2BE0BE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502920"/>
            <a:ext cx="70408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kern="0" spc="100" dirty="0">
                <a:solidFill>
                  <a:srgbClr val="0724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ABOUT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02920" y="960120"/>
            <a:ext cx="78638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EDF1F7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A DevOps engineer bridging development, infrastructure, and AI</a:t>
            </a:r>
            <a:endParaRPr lang="en-US" sz="2500" dirty="0"/>
          </a:p>
        </p:txBody>
      </p:sp>
      <p:sp>
        <p:nvSpPr>
          <p:cNvPr id="5" name="Text 3"/>
          <p:cNvSpPr/>
          <p:nvPr/>
        </p:nvSpPr>
        <p:spPr>
          <a:xfrm>
            <a:off x="502920" y="1874520"/>
            <a:ext cx="777240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8000"/>
              </a:lnSpc>
              <a:buNone/>
            </a:pPr>
            <a:r>
              <a:rPr lang="en-US" sz="1350" dirty="0">
                <a:solidFill>
                  <a:srgbClr val="EDF1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I'm Mina John Emil! I'm a DevOps &amp; MLOps Engineer based in Cairo, Egypt. Over the past few years, I've architected and deployed cloud-native systems ranging from 3-tier microservices stacks on Kubernetes to a 14-pod .NET pipeline running across OpenShift and KinD, migrating full workloads to AWS along the way with EKS, RDS, and Route 53. Check out my GitHub to see for yourself.</a:t>
            </a:r>
            <a:endParaRPr lang="en-US" sz="1350" dirty="0"/>
          </a:p>
        </p:txBody>
      </p:sp>
      <p:sp>
        <p:nvSpPr>
          <p:cNvPr id="6" name="Text 4"/>
          <p:cNvSpPr/>
          <p:nvPr/>
        </p:nvSpPr>
        <p:spPr>
          <a:xfrm>
            <a:off x="502920" y="3657600"/>
            <a:ext cx="7772400" cy="2331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8000"/>
              </a:lnSpc>
              <a:buNone/>
            </a:pPr>
            <a:r>
              <a:rPr lang="en-US" sz="135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reason teams trust me with their infrastructure? I bridge the gap between development, operations, and AI building "Zero-Touch" GitOps pipelines with ArgoCD, standardizing deployments with Helm, and automating CI/CD end-to-end with Jenkins and Azure DevOps. I'm AWS Certified Solutions Architect and Oracle Cloud Architect Associate certified, and I bring that same rigor to machine learning operations — from LLM agent workflows to model deployment pipelines that cut operational overhead. Whether it's a startup's first cluster or an enterprise's AI deployment strategy, I work to make it scalable, secure, and self-healing. Get in touch today to learn more!</a:t>
            </a:r>
            <a:endParaRPr lang="en-US" sz="1350" dirty="0">
              <a:solidFill>
                <a:schemeClr val="bg1"/>
              </a:solidFill>
            </a:endParaRPr>
          </a:p>
        </p:txBody>
      </p:sp>
      <p:sp>
        <p:nvSpPr>
          <p:cNvPr id="7" name="Shape 5"/>
          <p:cNvSpPr/>
          <p:nvPr/>
        </p:nvSpPr>
        <p:spPr>
          <a:xfrm>
            <a:off x="8732520" y="960120"/>
            <a:ext cx="2926080" cy="5394960"/>
          </a:xfrm>
          <a:prstGeom prst="roundRect">
            <a:avLst>
              <a:gd name="adj" fmla="val 2500"/>
            </a:avLst>
          </a:prstGeom>
          <a:solidFill>
            <a:srgbClr val="141D2E"/>
          </a:solidFill>
          <a:ln w="12700">
            <a:solidFill>
              <a:srgbClr val="263252"/>
            </a:solidFill>
            <a:prstDash val="solid"/>
          </a:ln>
          <a:effectLst>
            <a:outerShdw blurRad="101600" dist="38100" dir="5400000" algn="bl" rotWithShape="0">
              <a:srgbClr val="000000">
                <a:alpha val="35000"/>
              </a:srgbClr>
            </a:outerShdw>
          </a:effectLst>
        </p:spPr>
      </p:sp>
      <p:pic>
        <p:nvPicPr>
          <p:cNvPr id="8" name="Image 0" descr="/home/claude/unpacked/ppt/media/image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098280" y="1417320"/>
            <a:ext cx="2194560" cy="2194560"/>
          </a:xfrm>
          <a:prstGeom prst="ellipse">
            <a:avLst/>
          </a:prstGeom>
        </p:spPr>
      </p:pic>
      <p:sp>
        <p:nvSpPr>
          <p:cNvPr id="9" name="Shape 6"/>
          <p:cNvSpPr/>
          <p:nvPr/>
        </p:nvSpPr>
        <p:spPr>
          <a:xfrm>
            <a:off x="9098280" y="1417320"/>
            <a:ext cx="2194560" cy="2194560"/>
          </a:xfrm>
          <a:prstGeom prst="ellipse">
            <a:avLst/>
          </a:prstGeom>
          <a:ln w="25400">
            <a:solidFill>
              <a:srgbClr val="2BE0BE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8915400" y="3749040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EDF1F7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Mina John Emil</a:t>
            </a:r>
            <a:endParaRPr lang="en-US" sz="1400" dirty="0"/>
          </a:p>
        </p:txBody>
      </p:sp>
      <p:sp>
        <p:nvSpPr>
          <p:cNvPr id="11" name="Text 8"/>
          <p:cNvSpPr/>
          <p:nvPr/>
        </p:nvSpPr>
        <p:spPr>
          <a:xfrm>
            <a:off x="8915400" y="4069080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2BE0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DevOps &amp; MLOps Engineer</a:t>
            </a:r>
            <a:endParaRPr lang="en-US" sz="1050" dirty="0"/>
          </a:p>
        </p:txBody>
      </p:sp>
      <p:sp>
        <p:nvSpPr>
          <p:cNvPr id="12" name="Shape 9"/>
          <p:cNvSpPr/>
          <p:nvPr/>
        </p:nvSpPr>
        <p:spPr>
          <a:xfrm>
            <a:off x="9006840" y="4480560"/>
            <a:ext cx="2377440" cy="0"/>
          </a:xfrm>
          <a:prstGeom prst="line">
            <a:avLst/>
          </a:prstGeom>
          <a:noFill/>
          <a:ln w="12700">
            <a:solidFill>
              <a:srgbClr val="263252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8915400" y="4617720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8B96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Cairo, Egypt</a:t>
            </a:r>
            <a:endParaRPr lang="en-US" sz="1050" dirty="0"/>
          </a:p>
        </p:txBody>
      </p:sp>
      <p:sp>
        <p:nvSpPr>
          <p:cNvPr id="14" name="Shape 11"/>
          <p:cNvSpPr/>
          <p:nvPr/>
        </p:nvSpPr>
        <p:spPr>
          <a:xfrm>
            <a:off x="502920" y="6473952"/>
            <a:ext cx="64008" cy="64008"/>
          </a:xfrm>
          <a:prstGeom prst="ellipse">
            <a:avLst/>
          </a:prstGeom>
          <a:solidFill>
            <a:srgbClr val="2BE0BE"/>
          </a:solidFill>
          <a:ln/>
        </p:spPr>
      </p:sp>
      <p:sp>
        <p:nvSpPr>
          <p:cNvPr id="15" name="Text 12"/>
          <p:cNvSpPr/>
          <p:nvPr/>
        </p:nvSpPr>
        <p:spPr>
          <a:xfrm>
            <a:off x="649224" y="635508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8B96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Mina John Emil</a:t>
            </a:r>
            <a:endParaRPr lang="en-US" sz="900" dirty="0"/>
          </a:p>
        </p:txBody>
      </p:sp>
      <p:sp>
        <p:nvSpPr>
          <p:cNvPr id="16" name="Text 13"/>
          <p:cNvSpPr/>
          <p:nvPr/>
        </p:nvSpPr>
        <p:spPr>
          <a:xfrm>
            <a:off x="11231575" y="635508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B96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502920"/>
            <a:ext cx="2048256" cy="329184"/>
          </a:xfrm>
          <a:prstGeom prst="roundRect">
            <a:avLst>
              <a:gd name="adj" fmla="val 25000"/>
            </a:avLst>
          </a:prstGeom>
          <a:solidFill>
            <a:srgbClr val="2BE0BE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502920"/>
            <a:ext cx="204825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kern="0" spc="100" dirty="0">
                <a:solidFill>
                  <a:srgbClr val="0724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UNIQUE SELLING POINT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502920" y="1280160"/>
            <a:ext cx="11185855" cy="1463040"/>
          </a:xfrm>
          <a:prstGeom prst="roundRect">
            <a:avLst>
              <a:gd name="adj" fmla="val 5000"/>
            </a:avLst>
          </a:prstGeom>
          <a:solidFill>
            <a:srgbClr val="141D2E"/>
          </a:solidFill>
          <a:ln w="12700">
            <a:solidFill>
              <a:srgbClr val="263252"/>
            </a:solidFill>
            <a:prstDash val="solid"/>
          </a:ln>
          <a:effectLst>
            <a:outerShdw blurRad="101600" dist="38100" dir="5400000" algn="bl" rotWithShape="0">
              <a:srgbClr val="000000">
                <a:alpha val="3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22960" y="1645920"/>
            <a:ext cx="731520" cy="731520"/>
          </a:xfrm>
          <a:prstGeom prst="ellipse">
            <a:avLst/>
          </a:prstGeom>
          <a:solidFill>
            <a:srgbClr val="1A2540"/>
          </a:solidFill>
          <a:ln w="19050">
            <a:solidFill>
              <a:srgbClr val="2BE0BE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22960" y="164592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2BE0BE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01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1874520" y="1444752"/>
            <a:ext cx="9448495" cy="11338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EDF1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 help engineering teams ship machine learning and microservices reliably, through cloud-native CI/CD pipelines that turn a repository into a production system — with the monitoring and rollback paths already in place.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502920" y="2971800"/>
            <a:ext cx="11185855" cy="1463040"/>
          </a:xfrm>
          <a:prstGeom prst="roundRect">
            <a:avLst>
              <a:gd name="adj" fmla="val 5000"/>
            </a:avLst>
          </a:prstGeom>
          <a:solidFill>
            <a:srgbClr val="141D2E"/>
          </a:solidFill>
          <a:ln w="12700">
            <a:solidFill>
              <a:srgbClr val="263252"/>
            </a:solidFill>
            <a:prstDash val="solid"/>
          </a:ln>
          <a:effectLst>
            <a:outerShdw blurRad="101600" dist="38100" dir="5400000" algn="bl" rotWithShape="0">
              <a:srgbClr val="000000">
                <a:alpha val="35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822960" y="3337560"/>
            <a:ext cx="731520" cy="731520"/>
          </a:xfrm>
          <a:prstGeom prst="ellipse">
            <a:avLst/>
          </a:prstGeom>
          <a:solidFill>
            <a:srgbClr val="1A2540"/>
          </a:solidFill>
          <a:ln w="19050">
            <a:solidFill>
              <a:srgbClr val="2BE0BE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22960" y="333756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2BE0BE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02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1874520" y="3136392"/>
            <a:ext cx="9448495" cy="11338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EDF1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project ships with a short, professional walkthrough video showing you exactly how to monitor and maintain it yourself — no black boxes.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502920" y="4663440"/>
            <a:ext cx="11185855" cy="1463040"/>
          </a:xfrm>
          <a:prstGeom prst="roundRect">
            <a:avLst>
              <a:gd name="adj" fmla="val 5000"/>
            </a:avLst>
          </a:prstGeom>
          <a:solidFill>
            <a:srgbClr val="141D2E"/>
          </a:solidFill>
          <a:ln w="12700">
            <a:solidFill>
              <a:srgbClr val="263252"/>
            </a:solidFill>
            <a:prstDash val="solid"/>
          </a:ln>
          <a:effectLst>
            <a:outerShdw blurRad="101600" dist="38100" dir="5400000" algn="bl" rotWithShape="0">
              <a:srgbClr val="000000">
                <a:alpha val="35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822960" y="5029200"/>
            <a:ext cx="731520" cy="731520"/>
          </a:xfrm>
          <a:prstGeom prst="ellipse">
            <a:avLst/>
          </a:prstGeom>
          <a:solidFill>
            <a:srgbClr val="1A2540"/>
          </a:solidFill>
          <a:ln w="19050">
            <a:solidFill>
              <a:srgbClr val="2BE0BE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22960" y="502920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2BE0BE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03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1874520" y="4828032"/>
            <a:ext cx="9448495" cy="11338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EDF1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Ongoing support after delivery — if something breaks or needs adjusting, I'm still on the project with you.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502920" y="6473952"/>
            <a:ext cx="64008" cy="64008"/>
          </a:xfrm>
          <a:prstGeom prst="ellipse">
            <a:avLst/>
          </a:prstGeom>
          <a:solidFill>
            <a:srgbClr val="2BE0BE"/>
          </a:solidFill>
          <a:ln/>
        </p:spPr>
      </p:sp>
      <p:sp>
        <p:nvSpPr>
          <p:cNvPr id="17" name="Text 15"/>
          <p:cNvSpPr/>
          <p:nvPr/>
        </p:nvSpPr>
        <p:spPr>
          <a:xfrm>
            <a:off x="649224" y="635508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8B96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Mina John Emil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11231575" y="635508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B96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502920"/>
            <a:ext cx="2585923" cy="329184"/>
          </a:xfrm>
          <a:prstGeom prst="roundRect">
            <a:avLst>
              <a:gd name="adj" fmla="val 25000"/>
            </a:avLst>
          </a:prstGeom>
          <a:solidFill>
            <a:srgbClr val="2BE0BE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502920"/>
            <a:ext cx="2585923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kern="0" spc="100" dirty="0">
                <a:solidFill>
                  <a:srgbClr val="0724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EDUCATION &amp; CERTIFICATIONS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502920" y="1188720"/>
            <a:ext cx="11185855" cy="1234440"/>
          </a:xfrm>
          <a:prstGeom prst="roundRect">
            <a:avLst>
              <a:gd name="adj" fmla="val 5926"/>
            </a:avLst>
          </a:prstGeom>
          <a:solidFill>
            <a:srgbClr val="141D2E"/>
          </a:solidFill>
          <a:ln w="12700">
            <a:solidFill>
              <a:srgbClr val="263252"/>
            </a:solidFill>
            <a:prstDash val="solid"/>
          </a:ln>
          <a:effectLst>
            <a:outerShdw blurRad="101600" dist="38100" dir="5400000" algn="bl" rotWithShape="0">
              <a:srgbClr val="000000">
                <a:alpha val="35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777240" y="129844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BE0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2022 – 2027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777240" y="1572768"/>
            <a:ext cx="1063721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EDF1F7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B.Sc. Communication &amp; Electronics Engineering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777240" y="1947672"/>
            <a:ext cx="1063721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8B96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Helwan University — Grade: Excellent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502920" y="269748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kern="0" spc="120" dirty="0">
                <a:solidFill>
                  <a:srgbClr val="2BE0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CERTIFICATIONS</a:t>
            </a:r>
            <a:endParaRPr lang="en-US" sz="1100" dirty="0"/>
          </a:p>
        </p:txBody>
      </p:sp>
      <p:sp>
        <p:nvSpPr>
          <p:cNvPr id="700" name="Line 700"/>
          <p:cNvSpPr/>
          <p:nvPr/>
        </p:nvSpPr>
        <p:spPr>
          <a:xfrm>
            <a:off x="585216" y="3145536"/>
            <a:ext cx="0" cy="2060000"/>
          </a:xfrm>
          <a:prstGeom prst="line">
            <a:avLst/>
          </a:prstGeom>
          <a:noFill/>
          <a:ln w="12700">
            <a:solidFill>
              <a:srgbClr val="263252"/>
            </a:solidFill>
            <a:prstDash val="solid"/>
          </a:ln>
        </p:spPr>
      </p:sp>
      <p:sp>
        <p:nvSpPr>
          <p:cNvPr id="701" name="Shape 701"/>
          <p:cNvSpPr/>
          <p:nvPr/>
        </p:nvSpPr>
        <p:spPr>
          <a:xfrm>
            <a:off x="502920" y="3145536"/>
            <a:ext cx="128016" cy="128016"/>
          </a:xfrm>
          <a:prstGeom prst="ellipse">
            <a:avLst/>
          </a:prstGeom>
          <a:solidFill>
            <a:srgbClr val="2BE0BE"/>
          </a:solidFill>
          <a:ln/>
        </p:spPr>
      </p:sp>
      <p:sp>
        <p:nvSpPr>
          <p:cNvPr id="702" name="Text 702"/>
          <p:cNvSpPr/>
          <p:nvPr/>
        </p:nvSpPr>
        <p:spPr>
          <a:xfrm>
            <a:off x="868680" y="3063240"/>
            <a:ext cx="5760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EDF1F7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  <a:hlinkClick r:id="rId3"/>
              </a:rPr>
              <a:t>AWS Solutions Architect Associate</a:t>
            </a:r>
            <a:endParaRPr lang="en-US" sz="1450" dirty="0"/>
          </a:p>
        </p:txBody>
      </p:sp>
      <p:sp>
        <p:nvSpPr>
          <p:cNvPr id="703" name="Text 703"/>
          <p:cNvSpPr/>
          <p:nvPr/>
        </p:nvSpPr>
        <p:spPr>
          <a:xfrm>
            <a:off x="868680" y="3346704"/>
            <a:ext cx="5760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2BE0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Amazon Web Services</a:t>
            </a:r>
            <a:endParaRPr lang="en-US" sz="1100" dirty="0"/>
          </a:p>
        </p:txBody>
      </p:sp>
      <p:sp>
        <p:nvSpPr>
          <p:cNvPr id="704" name="Text 704"/>
          <p:cNvSpPr/>
          <p:nvPr/>
        </p:nvSpPr>
        <p:spPr>
          <a:xfrm>
            <a:off x="868680" y="3630168"/>
            <a:ext cx="10820095" cy="40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10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Designs secure, cost-optimized, highly available AWS architectures — applied while migrating workloads to EKS, RDS, and Route 53.</a:t>
            </a:r>
            <a:endParaRPr lang="en-US" sz="1000" dirty="0">
              <a:solidFill>
                <a:schemeClr val="bg1"/>
              </a:solidFill>
            </a:endParaRPr>
          </a:p>
        </p:txBody>
      </p:sp>
      <p:sp>
        <p:nvSpPr>
          <p:cNvPr id="705" name="Shape 705"/>
          <p:cNvSpPr/>
          <p:nvPr/>
        </p:nvSpPr>
        <p:spPr>
          <a:xfrm>
            <a:off x="502920" y="4175536"/>
            <a:ext cx="128016" cy="128016"/>
          </a:xfrm>
          <a:prstGeom prst="ellipse">
            <a:avLst/>
          </a:prstGeom>
          <a:solidFill>
            <a:srgbClr val="2BE0BE"/>
          </a:solidFill>
          <a:ln/>
        </p:spPr>
      </p:sp>
      <p:sp>
        <p:nvSpPr>
          <p:cNvPr id="706" name="Text 706"/>
          <p:cNvSpPr/>
          <p:nvPr/>
        </p:nvSpPr>
        <p:spPr>
          <a:xfrm>
            <a:off x="868680" y="4093240"/>
            <a:ext cx="5760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EDF1F7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  <a:hlinkClick r:id="rId4"/>
              </a:rPr>
              <a:t>AWS Cloud Practitioner</a:t>
            </a:r>
            <a:endParaRPr lang="en-US" sz="1450" dirty="0"/>
          </a:p>
        </p:txBody>
      </p:sp>
      <p:sp>
        <p:nvSpPr>
          <p:cNvPr id="707" name="Text 707"/>
          <p:cNvSpPr/>
          <p:nvPr/>
        </p:nvSpPr>
        <p:spPr>
          <a:xfrm>
            <a:off x="868680" y="4376704"/>
            <a:ext cx="5760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2BE0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Amazon Web Services</a:t>
            </a:r>
            <a:endParaRPr lang="en-US" sz="1100" dirty="0"/>
          </a:p>
        </p:txBody>
      </p:sp>
      <p:sp>
        <p:nvSpPr>
          <p:cNvPr id="708" name="Text 708"/>
          <p:cNvSpPr/>
          <p:nvPr/>
        </p:nvSpPr>
        <p:spPr>
          <a:xfrm>
            <a:off x="868680" y="4660168"/>
            <a:ext cx="10820095" cy="40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10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Foundational AWS Cloud services, pricing models, and terminology — the entry point into the AWS certification track.</a:t>
            </a:r>
            <a:endParaRPr lang="en-US" sz="1000" dirty="0">
              <a:solidFill>
                <a:schemeClr val="bg1"/>
              </a:solidFill>
            </a:endParaRPr>
          </a:p>
        </p:txBody>
      </p:sp>
      <p:sp>
        <p:nvSpPr>
          <p:cNvPr id="709" name="Shape 709"/>
          <p:cNvSpPr/>
          <p:nvPr/>
        </p:nvSpPr>
        <p:spPr>
          <a:xfrm>
            <a:off x="502920" y="5205536"/>
            <a:ext cx="128016" cy="128016"/>
          </a:xfrm>
          <a:prstGeom prst="ellipse">
            <a:avLst/>
          </a:prstGeom>
          <a:solidFill>
            <a:srgbClr val="2BE0BE"/>
          </a:solidFill>
          <a:ln/>
        </p:spPr>
      </p:sp>
      <p:sp>
        <p:nvSpPr>
          <p:cNvPr id="710" name="Text 710"/>
          <p:cNvSpPr/>
          <p:nvPr/>
        </p:nvSpPr>
        <p:spPr>
          <a:xfrm>
            <a:off x="868680" y="5123240"/>
            <a:ext cx="5760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EDF1F7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  <a:hlinkClick r:id="rId5"/>
              </a:rPr>
              <a:t>AWS AI Practitioner</a:t>
            </a:r>
            <a:endParaRPr lang="en-US" sz="1450" dirty="0"/>
          </a:p>
        </p:txBody>
      </p:sp>
      <p:sp>
        <p:nvSpPr>
          <p:cNvPr id="711" name="Text 711"/>
          <p:cNvSpPr/>
          <p:nvPr/>
        </p:nvSpPr>
        <p:spPr>
          <a:xfrm>
            <a:off x="868680" y="5406704"/>
            <a:ext cx="5760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2BE0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Amazon Web Services</a:t>
            </a:r>
            <a:endParaRPr lang="en-US" sz="1100" dirty="0"/>
          </a:p>
        </p:txBody>
      </p:sp>
      <p:sp>
        <p:nvSpPr>
          <p:cNvPr id="712" name="Text 712"/>
          <p:cNvSpPr/>
          <p:nvPr/>
        </p:nvSpPr>
        <p:spPr>
          <a:xfrm>
            <a:off x="868680" y="5690168"/>
            <a:ext cx="10820095" cy="40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10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Validates AI, ML, and generative AI concepts on AWS — aligned with hands-on LLM agent and MLOps experience.</a:t>
            </a:r>
            <a:endParaRPr lang="en-US" sz="1000" dirty="0">
              <a:solidFill>
                <a:schemeClr val="bg1"/>
              </a:solidFill>
            </a:endParaRPr>
          </a:p>
        </p:txBody>
      </p:sp>
      <p:sp>
        <p:nvSpPr>
          <p:cNvPr id="33" name="Shape 31"/>
          <p:cNvSpPr/>
          <p:nvPr/>
        </p:nvSpPr>
        <p:spPr>
          <a:xfrm>
            <a:off x="502920" y="6473952"/>
            <a:ext cx="64008" cy="64008"/>
          </a:xfrm>
          <a:prstGeom prst="ellipse">
            <a:avLst/>
          </a:prstGeom>
          <a:solidFill>
            <a:srgbClr val="2BE0BE"/>
          </a:solidFill>
          <a:ln/>
        </p:spPr>
      </p:sp>
      <p:sp>
        <p:nvSpPr>
          <p:cNvPr id="34" name="Text 32"/>
          <p:cNvSpPr/>
          <p:nvPr/>
        </p:nvSpPr>
        <p:spPr>
          <a:xfrm>
            <a:off x="649224" y="635508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8B96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Mina John Emil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11231575" y="635508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B96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502920"/>
            <a:ext cx="2585923" cy="329184"/>
          </a:xfrm>
          <a:prstGeom prst="roundRect">
            <a:avLst>
              <a:gd name="adj" fmla="val 25000"/>
            </a:avLst>
          </a:prstGeom>
          <a:solidFill>
            <a:srgbClr val="2BE0BE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502920"/>
            <a:ext cx="2585923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kern="0" spc="100" dirty="0">
                <a:solidFill>
                  <a:srgbClr val="0724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CERTIFICATIONS (CONT’D)</a:t>
            </a:r>
            <a:endParaRPr lang="en-US" sz="1200" dirty="0"/>
          </a:p>
        </p:txBody>
      </p:sp>
      <p:sp>
        <p:nvSpPr>
          <p:cNvPr id="800" name="Line 800"/>
          <p:cNvSpPr/>
          <p:nvPr/>
        </p:nvSpPr>
        <p:spPr>
          <a:xfrm>
            <a:off x="585216" y="1632296"/>
            <a:ext cx="0" cy="3090000"/>
          </a:xfrm>
          <a:prstGeom prst="line">
            <a:avLst/>
          </a:prstGeom>
          <a:noFill/>
          <a:ln w="12700">
            <a:solidFill>
              <a:srgbClr val="263252"/>
            </a:solidFill>
            <a:prstDash val="solid"/>
          </a:ln>
        </p:spPr>
      </p:sp>
      <p:sp>
        <p:nvSpPr>
          <p:cNvPr id="801" name="Shape 801"/>
          <p:cNvSpPr/>
          <p:nvPr/>
        </p:nvSpPr>
        <p:spPr>
          <a:xfrm>
            <a:off x="502920" y="1632296"/>
            <a:ext cx="128016" cy="128016"/>
          </a:xfrm>
          <a:prstGeom prst="ellipse">
            <a:avLst/>
          </a:prstGeom>
          <a:solidFill>
            <a:srgbClr val="2BE0BE"/>
          </a:solidFill>
          <a:ln/>
        </p:spPr>
      </p:sp>
      <p:sp>
        <p:nvSpPr>
          <p:cNvPr id="802" name="Text 802"/>
          <p:cNvSpPr/>
          <p:nvPr/>
        </p:nvSpPr>
        <p:spPr>
          <a:xfrm>
            <a:off x="868680" y="1550000"/>
            <a:ext cx="5760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EDF1F7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  <a:hlinkClick r:id="rId2"/>
              </a:rPr>
              <a:t>Oracle Cloud Architect Associate</a:t>
            </a:r>
            <a:endParaRPr lang="en-US" sz="1450" dirty="0"/>
          </a:p>
        </p:txBody>
      </p:sp>
      <p:sp>
        <p:nvSpPr>
          <p:cNvPr id="803" name="Text 803"/>
          <p:cNvSpPr/>
          <p:nvPr/>
        </p:nvSpPr>
        <p:spPr>
          <a:xfrm>
            <a:off x="868680" y="1833464"/>
            <a:ext cx="5760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2BE0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Oracle</a:t>
            </a:r>
            <a:endParaRPr lang="en-US" sz="1100" dirty="0"/>
          </a:p>
        </p:txBody>
      </p:sp>
      <p:sp>
        <p:nvSpPr>
          <p:cNvPr id="804" name="Text 804"/>
          <p:cNvSpPr/>
          <p:nvPr/>
        </p:nvSpPr>
        <p:spPr>
          <a:xfrm>
            <a:off x="868680" y="2116928"/>
            <a:ext cx="10820095" cy="40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10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Architects OCI compute, network, storage, and IAM solutions for production-grade cloud workloads.</a:t>
            </a:r>
            <a:endParaRPr lang="en-US" sz="1000" dirty="0">
              <a:solidFill>
                <a:schemeClr val="bg1"/>
              </a:solidFill>
            </a:endParaRPr>
          </a:p>
        </p:txBody>
      </p:sp>
      <p:sp>
        <p:nvSpPr>
          <p:cNvPr id="805" name="Shape 805"/>
          <p:cNvSpPr/>
          <p:nvPr/>
        </p:nvSpPr>
        <p:spPr>
          <a:xfrm>
            <a:off x="502920" y="2662296"/>
            <a:ext cx="128016" cy="128016"/>
          </a:xfrm>
          <a:prstGeom prst="ellipse">
            <a:avLst/>
          </a:prstGeom>
          <a:solidFill>
            <a:srgbClr val="2BE0BE"/>
          </a:solidFill>
          <a:ln/>
        </p:spPr>
      </p:sp>
      <p:sp>
        <p:nvSpPr>
          <p:cNvPr id="806" name="Text 806"/>
          <p:cNvSpPr/>
          <p:nvPr/>
        </p:nvSpPr>
        <p:spPr>
          <a:xfrm>
            <a:off x="868680" y="2580000"/>
            <a:ext cx="5760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EDF1F7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  <a:hlinkClick r:id="rId3"/>
              </a:rPr>
              <a:t>Oracle Cloud Foundations Associate</a:t>
            </a:r>
            <a:endParaRPr lang="en-US" sz="1450" dirty="0"/>
          </a:p>
        </p:txBody>
      </p:sp>
      <p:sp>
        <p:nvSpPr>
          <p:cNvPr id="807" name="Text 807"/>
          <p:cNvSpPr/>
          <p:nvPr/>
        </p:nvSpPr>
        <p:spPr>
          <a:xfrm>
            <a:off x="868680" y="2863464"/>
            <a:ext cx="5760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2BE0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Oracle</a:t>
            </a:r>
            <a:endParaRPr lang="en-US" sz="1100" dirty="0"/>
          </a:p>
        </p:txBody>
      </p:sp>
      <p:sp>
        <p:nvSpPr>
          <p:cNvPr id="808" name="Text 808"/>
          <p:cNvSpPr/>
          <p:nvPr/>
        </p:nvSpPr>
        <p:spPr>
          <a:xfrm>
            <a:off x="868680" y="3146928"/>
            <a:ext cx="10820095" cy="40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10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Oracle Cloud Infrastructure services and cloud computing fundamentals.</a:t>
            </a:r>
            <a:endParaRPr lang="en-US" sz="1000" dirty="0">
              <a:solidFill>
                <a:schemeClr val="bg1"/>
              </a:solidFill>
            </a:endParaRPr>
          </a:p>
        </p:txBody>
      </p:sp>
      <p:sp>
        <p:nvSpPr>
          <p:cNvPr id="809" name="Shape 809"/>
          <p:cNvSpPr/>
          <p:nvPr/>
        </p:nvSpPr>
        <p:spPr>
          <a:xfrm>
            <a:off x="502920" y="3692296"/>
            <a:ext cx="128016" cy="128016"/>
          </a:xfrm>
          <a:prstGeom prst="ellipse">
            <a:avLst/>
          </a:prstGeom>
          <a:solidFill>
            <a:srgbClr val="2BE0BE"/>
          </a:solidFill>
          <a:ln/>
        </p:spPr>
      </p:sp>
      <p:sp>
        <p:nvSpPr>
          <p:cNvPr id="810" name="Text 810"/>
          <p:cNvSpPr/>
          <p:nvPr/>
        </p:nvSpPr>
        <p:spPr>
          <a:xfrm>
            <a:off x="868680" y="3610000"/>
            <a:ext cx="5760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EDF1F7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  <a:hlinkClick r:id="rId4"/>
              </a:rPr>
              <a:t>CCST Networking</a:t>
            </a:r>
            <a:endParaRPr lang="en-US" sz="1450" dirty="0"/>
          </a:p>
        </p:txBody>
      </p:sp>
      <p:sp>
        <p:nvSpPr>
          <p:cNvPr id="811" name="Text 811"/>
          <p:cNvSpPr/>
          <p:nvPr/>
        </p:nvSpPr>
        <p:spPr>
          <a:xfrm>
            <a:off x="868680" y="3893464"/>
            <a:ext cx="5760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2BE0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Cisco</a:t>
            </a:r>
            <a:endParaRPr lang="en-US" sz="1100" dirty="0"/>
          </a:p>
        </p:txBody>
      </p:sp>
      <p:sp>
        <p:nvSpPr>
          <p:cNvPr id="812" name="Text 812"/>
          <p:cNvSpPr/>
          <p:nvPr/>
        </p:nvSpPr>
        <p:spPr>
          <a:xfrm>
            <a:off x="868680" y="4176928"/>
            <a:ext cx="10820095" cy="40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10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Entry-level networking fundamentals and addressing — builds on CCNA (200-301) instructor experience at IEEE.</a:t>
            </a:r>
            <a:endParaRPr lang="en-US" sz="1000" dirty="0">
              <a:solidFill>
                <a:schemeClr val="bg1"/>
              </a:solidFill>
            </a:endParaRPr>
          </a:p>
        </p:txBody>
      </p:sp>
      <p:sp>
        <p:nvSpPr>
          <p:cNvPr id="813" name="Shape 813"/>
          <p:cNvSpPr/>
          <p:nvPr/>
        </p:nvSpPr>
        <p:spPr>
          <a:xfrm>
            <a:off x="502920" y="4722296"/>
            <a:ext cx="128016" cy="128016"/>
          </a:xfrm>
          <a:prstGeom prst="ellipse">
            <a:avLst/>
          </a:prstGeom>
          <a:solidFill>
            <a:srgbClr val="2BE0BE"/>
          </a:solidFill>
          <a:ln/>
        </p:spPr>
      </p:sp>
      <p:sp>
        <p:nvSpPr>
          <p:cNvPr id="814" name="Text 814"/>
          <p:cNvSpPr/>
          <p:nvPr/>
        </p:nvSpPr>
        <p:spPr>
          <a:xfrm>
            <a:off x="868680" y="4640000"/>
            <a:ext cx="5760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EDF1F7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Microsoft Machine Learning Engineer</a:t>
            </a:r>
            <a:endParaRPr lang="en-US" sz="1450" dirty="0"/>
          </a:p>
        </p:txBody>
      </p:sp>
      <p:sp>
        <p:nvSpPr>
          <p:cNvPr id="817" name="Text 817"/>
          <p:cNvSpPr/>
          <p:nvPr/>
        </p:nvSpPr>
        <p:spPr>
          <a:xfrm>
            <a:off x="9311335" y="4640000"/>
            <a:ext cx="2377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50" b="1" dirty="0">
                <a:solidFill>
                  <a:srgbClr val="8B96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07/2026 – 01/2027</a:t>
            </a:r>
            <a:endParaRPr lang="en-US" sz="1050" dirty="0"/>
          </a:p>
        </p:txBody>
      </p:sp>
      <p:sp>
        <p:nvSpPr>
          <p:cNvPr id="815" name="Text 815"/>
          <p:cNvSpPr/>
          <p:nvPr/>
        </p:nvSpPr>
        <p:spPr>
          <a:xfrm>
            <a:off x="868680" y="4923464"/>
            <a:ext cx="5760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2BE0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Digital Egypt Pioneers Initiative (DEPI)</a:t>
            </a:r>
            <a:endParaRPr lang="en-US" sz="1100" dirty="0"/>
          </a:p>
        </p:txBody>
      </p:sp>
      <p:sp>
        <p:nvSpPr>
          <p:cNvPr id="816" name="Text 816"/>
          <p:cNvSpPr/>
          <p:nvPr/>
        </p:nvSpPr>
        <p:spPr>
          <a:xfrm>
            <a:off x="868680" y="5206927"/>
            <a:ext cx="10820095" cy="64711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10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Translated raw data into scalable data science models, optimizing data processing and pattern identification for systems.</a:t>
            </a:r>
          </a:p>
          <a:p>
            <a:pPr marL="0" indent="0">
              <a:lnSpc>
                <a:spcPct val="105000"/>
              </a:lnSpc>
              <a:buNone/>
            </a:pPr>
            <a:r>
              <a:rPr lang="en-US" sz="110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Developed AI algorithms utilizing Python, </a:t>
            </a:r>
            <a:r>
              <a:rPr lang="en-US" sz="1100" dirty="0" err="1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MLflow</a:t>
            </a:r>
            <a:r>
              <a:rPr lang="en-US" sz="110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Hugging Face, mastering deep learning, NLP with attention models, computer vision. </a:t>
            </a:r>
          </a:p>
          <a:p>
            <a:pPr marL="0" indent="0">
              <a:lnSpc>
                <a:spcPct val="105000"/>
              </a:lnSpc>
              <a:buNone/>
            </a:pPr>
            <a:r>
              <a:rPr lang="en-US" sz="110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Earned expertise in </a:t>
            </a:r>
            <a:r>
              <a:rPr lang="en-US" sz="1100" dirty="0" err="1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MLOps</a:t>
            </a:r>
            <a:r>
              <a:rPr lang="en-US" sz="110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and cloud AI deployment, Azure AI Engineer Associate, culminating in a capstone project..</a:t>
            </a:r>
            <a:endParaRPr lang="en-US" sz="1100" dirty="0">
              <a:solidFill>
                <a:schemeClr val="bg1"/>
              </a:solidFill>
            </a:endParaRPr>
          </a:p>
        </p:txBody>
      </p:sp>
      <p:sp>
        <p:nvSpPr>
          <p:cNvPr id="33" name="Shape 31"/>
          <p:cNvSpPr/>
          <p:nvPr/>
        </p:nvSpPr>
        <p:spPr>
          <a:xfrm>
            <a:off x="502920" y="6473952"/>
            <a:ext cx="64008" cy="64008"/>
          </a:xfrm>
          <a:prstGeom prst="ellipse">
            <a:avLst/>
          </a:prstGeom>
          <a:solidFill>
            <a:srgbClr val="2BE0BE"/>
          </a:solidFill>
          <a:ln/>
        </p:spPr>
      </p:sp>
      <p:sp>
        <p:nvSpPr>
          <p:cNvPr id="34" name="Text 32"/>
          <p:cNvSpPr/>
          <p:nvPr/>
        </p:nvSpPr>
        <p:spPr>
          <a:xfrm>
            <a:off x="649224" y="635508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8B96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Mina John Emil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11231575" y="635508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B96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502920"/>
            <a:ext cx="2585923" cy="329184"/>
          </a:xfrm>
          <a:prstGeom prst="roundRect">
            <a:avLst>
              <a:gd name="adj" fmla="val 25000"/>
            </a:avLst>
          </a:prstGeom>
          <a:solidFill>
            <a:srgbClr val="2BE0BE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502920"/>
            <a:ext cx="2585923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kern="0" spc="100" dirty="0">
                <a:solidFill>
                  <a:srgbClr val="0724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CERTIFICATIONS (CONT’D)</a:t>
            </a:r>
            <a:endParaRPr lang="en-US" sz="1200" dirty="0"/>
          </a:p>
        </p:txBody>
      </p:sp>
      <p:sp>
        <p:nvSpPr>
          <p:cNvPr id="900" name="Line 900"/>
          <p:cNvSpPr/>
          <p:nvPr/>
        </p:nvSpPr>
        <p:spPr>
          <a:xfrm>
            <a:off x="585216" y="1632296"/>
            <a:ext cx="0" cy="3090000"/>
          </a:xfrm>
          <a:prstGeom prst="line">
            <a:avLst/>
          </a:prstGeom>
          <a:noFill/>
          <a:ln w="12700">
            <a:solidFill>
              <a:srgbClr val="263252"/>
            </a:solidFill>
            <a:prstDash val="solid"/>
          </a:ln>
        </p:spPr>
      </p:sp>
      <p:sp>
        <p:nvSpPr>
          <p:cNvPr id="901" name="Shape 901"/>
          <p:cNvSpPr/>
          <p:nvPr/>
        </p:nvSpPr>
        <p:spPr>
          <a:xfrm>
            <a:off x="502920" y="1632296"/>
            <a:ext cx="128016" cy="128016"/>
          </a:xfrm>
          <a:prstGeom prst="ellipse">
            <a:avLst/>
          </a:prstGeom>
          <a:solidFill>
            <a:srgbClr val="2BE0BE"/>
          </a:solidFill>
          <a:ln/>
        </p:spPr>
      </p:sp>
      <p:sp>
        <p:nvSpPr>
          <p:cNvPr id="902" name="Text 902"/>
          <p:cNvSpPr/>
          <p:nvPr/>
        </p:nvSpPr>
        <p:spPr>
          <a:xfrm>
            <a:off x="868680" y="1550000"/>
            <a:ext cx="5760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chemeClr val="bg1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Machine Learning Specialization</a:t>
            </a:r>
            <a:endParaRPr lang="en-US" sz="1450" dirty="0">
              <a:solidFill>
                <a:schemeClr val="bg1"/>
              </a:solidFill>
            </a:endParaRPr>
          </a:p>
        </p:txBody>
      </p:sp>
      <p:sp>
        <p:nvSpPr>
          <p:cNvPr id="903" name="Text 903"/>
          <p:cNvSpPr/>
          <p:nvPr/>
        </p:nvSpPr>
        <p:spPr>
          <a:xfrm>
            <a:off x="868680" y="1833464"/>
            <a:ext cx="5760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2BE0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Stanford University &amp; DeepLearning.AI</a:t>
            </a:r>
            <a:endParaRPr lang="en-US" sz="1100" dirty="0"/>
          </a:p>
        </p:txBody>
      </p:sp>
      <p:sp>
        <p:nvSpPr>
          <p:cNvPr id="904" name="Text 904"/>
          <p:cNvSpPr/>
          <p:nvPr/>
        </p:nvSpPr>
        <p:spPr>
          <a:xfrm>
            <a:off x="868680" y="2116928"/>
            <a:ext cx="10820095" cy="40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8B96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Four-course track: Supervised Machine Learning, Advanced Learning Algorithms, Unsupervised Learning, and Recommender/Reinforcement Learning Systems.</a:t>
            </a:r>
            <a:endParaRPr lang="en-US" sz="1000" dirty="0"/>
          </a:p>
        </p:txBody>
      </p:sp>
      <p:sp>
        <p:nvSpPr>
          <p:cNvPr id="905" name="Shape 905"/>
          <p:cNvSpPr/>
          <p:nvPr/>
        </p:nvSpPr>
        <p:spPr>
          <a:xfrm>
            <a:off x="502920" y="2662296"/>
            <a:ext cx="128016" cy="128016"/>
          </a:xfrm>
          <a:prstGeom prst="ellipse">
            <a:avLst/>
          </a:prstGeom>
          <a:solidFill>
            <a:srgbClr val="2BE0BE"/>
          </a:solidFill>
          <a:ln/>
        </p:spPr>
      </p:sp>
      <p:sp>
        <p:nvSpPr>
          <p:cNvPr id="906" name="Text 906"/>
          <p:cNvSpPr/>
          <p:nvPr/>
        </p:nvSpPr>
        <p:spPr>
          <a:xfrm>
            <a:off x="868680" y="2580000"/>
            <a:ext cx="5760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EDF1F7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Cloud Architect Certificate</a:t>
            </a:r>
            <a:endParaRPr lang="en-US" sz="1450" dirty="0"/>
          </a:p>
        </p:txBody>
      </p:sp>
      <p:sp>
        <p:nvSpPr>
          <p:cNvPr id="907" name="Text 907"/>
          <p:cNvSpPr/>
          <p:nvPr/>
        </p:nvSpPr>
        <p:spPr>
          <a:xfrm>
            <a:off x="868680" y="2863464"/>
            <a:ext cx="5760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2BE0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NTI, ITI &amp; AWS Academy</a:t>
            </a:r>
            <a:endParaRPr lang="en-US" sz="1100" dirty="0"/>
          </a:p>
        </p:txBody>
      </p:sp>
      <p:sp>
        <p:nvSpPr>
          <p:cNvPr id="908" name="Text 908"/>
          <p:cNvSpPr/>
          <p:nvPr/>
        </p:nvSpPr>
        <p:spPr>
          <a:xfrm>
            <a:off x="868680" y="3146928"/>
            <a:ext cx="10820095" cy="40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8B96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Joint cloud-architecture training across NTI, ITI, and AWS Academy covering core AWS and architecture practices.</a:t>
            </a:r>
            <a:endParaRPr lang="en-US" sz="1000" dirty="0"/>
          </a:p>
        </p:txBody>
      </p:sp>
      <p:sp>
        <p:nvSpPr>
          <p:cNvPr id="909" name="Shape 909"/>
          <p:cNvSpPr/>
          <p:nvPr/>
        </p:nvSpPr>
        <p:spPr>
          <a:xfrm>
            <a:off x="502920" y="3692296"/>
            <a:ext cx="128016" cy="128016"/>
          </a:xfrm>
          <a:prstGeom prst="ellipse">
            <a:avLst/>
          </a:prstGeom>
          <a:solidFill>
            <a:srgbClr val="2BE0BE"/>
          </a:solidFill>
          <a:ln/>
        </p:spPr>
      </p:sp>
      <p:sp>
        <p:nvSpPr>
          <p:cNvPr id="910" name="Text 910"/>
          <p:cNvSpPr/>
          <p:nvPr/>
        </p:nvSpPr>
        <p:spPr>
          <a:xfrm>
            <a:off x="868680" y="3610000"/>
            <a:ext cx="5760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EDF1F7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Generative AI Certificate</a:t>
            </a:r>
            <a:endParaRPr lang="en-US" sz="1450" dirty="0"/>
          </a:p>
        </p:txBody>
      </p:sp>
      <p:sp>
        <p:nvSpPr>
          <p:cNvPr id="911" name="Text 911"/>
          <p:cNvSpPr/>
          <p:nvPr/>
        </p:nvSpPr>
        <p:spPr>
          <a:xfrm>
            <a:off x="868680" y="3893464"/>
            <a:ext cx="5760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2BE0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IBM</a:t>
            </a:r>
            <a:endParaRPr lang="en-US" sz="1100" dirty="0"/>
          </a:p>
        </p:txBody>
      </p:sp>
      <p:sp>
        <p:nvSpPr>
          <p:cNvPr id="912" name="Text 912"/>
          <p:cNvSpPr/>
          <p:nvPr/>
        </p:nvSpPr>
        <p:spPr>
          <a:xfrm>
            <a:off x="868680" y="4176928"/>
            <a:ext cx="10820095" cy="40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8B96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Generative AI and large language model fundamentals and enterprise applications — IBM.</a:t>
            </a:r>
            <a:endParaRPr lang="en-US" sz="1000" dirty="0"/>
          </a:p>
        </p:txBody>
      </p:sp>
      <p:sp>
        <p:nvSpPr>
          <p:cNvPr id="913" name="Shape 913"/>
          <p:cNvSpPr/>
          <p:nvPr/>
        </p:nvSpPr>
        <p:spPr>
          <a:xfrm>
            <a:off x="502920" y="4722296"/>
            <a:ext cx="128016" cy="128016"/>
          </a:xfrm>
          <a:prstGeom prst="ellipse">
            <a:avLst/>
          </a:prstGeom>
          <a:solidFill>
            <a:srgbClr val="2BE0BE"/>
          </a:solidFill>
          <a:ln/>
        </p:spPr>
      </p:sp>
      <p:sp>
        <p:nvSpPr>
          <p:cNvPr id="914" name="Text 914"/>
          <p:cNvSpPr/>
          <p:nvPr/>
        </p:nvSpPr>
        <p:spPr>
          <a:xfrm>
            <a:off x="868680" y="4640000"/>
            <a:ext cx="5760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EDF1F7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CS50</a:t>
            </a:r>
            <a:endParaRPr lang="en-US" sz="1450" dirty="0"/>
          </a:p>
        </p:txBody>
      </p:sp>
      <p:sp>
        <p:nvSpPr>
          <p:cNvPr id="915" name="Text 915"/>
          <p:cNvSpPr/>
          <p:nvPr/>
        </p:nvSpPr>
        <p:spPr>
          <a:xfrm>
            <a:off x="868680" y="4923464"/>
            <a:ext cx="5760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2BE0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Harvard University &amp; ITI</a:t>
            </a:r>
            <a:endParaRPr lang="en-US" sz="1100" dirty="0"/>
          </a:p>
        </p:txBody>
      </p:sp>
      <p:sp>
        <p:nvSpPr>
          <p:cNvPr id="916" name="Text 916"/>
          <p:cNvSpPr/>
          <p:nvPr/>
        </p:nvSpPr>
        <p:spPr>
          <a:xfrm>
            <a:off x="868680" y="5206928"/>
            <a:ext cx="10820095" cy="40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8B96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Harvard's introduction to computer science — algorithms, data structures, and programming fundamentals.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502920" y="6473952"/>
            <a:ext cx="64008" cy="64008"/>
          </a:xfrm>
          <a:prstGeom prst="ellipse">
            <a:avLst/>
          </a:prstGeom>
          <a:solidFill>
            <a:srgbClr val="2BE0BE"/>
          </a:solidFill>
          <a:ln/>
        </p:spPr>
      </p:sp>
      <p:sp>
        <p:nvSpPr>
          <p:cNvPr id="34" name="Text 32"/>
          <p:cNvSpPr/>
          <p:nvPr/>
        </p:nvSpPr>
        <p:spPr>
          <a:xfrm>
            <a:off x="649224" y="635508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8B96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Mina John Emil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11231575" y="635508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B96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502920"/>
            <a:ext cx="2585923" cy="329184"/>
          </a:xfrm>
          <a:prstGeom prst="roundRect">
            <a:avLst>
              <a:gd name="adj" fmla="val 25000"/>
            </a:avLst>
          </a:prstGeom>
          <a:solidFill>
            <a:srgbClr val="2BE0BE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502920"/>
            <a:ext cx="2585923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kern="0" spc="100" dirty="0">
                <a:solidFill>
                  <a:srgbClr val="0724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CERTIFICATIONS (CONT’D)</a:t>
            </a:r>
            <a:endParaRPr lang="en-US" sz="1200" dirty="0"/>
          </a:p>
        </p:txBody>
      </p:sp>
      <p:sp>
        <p:nvSpPr>
          <p:cNvPr id="1000" name="Line 1000"/>
          <p:cNvSpPr/>
          <p:nvPr/>
        </p:nvSpPr>
        <p:spPr>
          <a:xfrm>
            <a:off x="585216" y="1632296"/>
            <a:ext cx="0" cy="3090000"/>
          </a:xfrm>
          <a:prstGeom prst="line">
            <a:avLst/>
          </a:prstGeom>
          <a:noFill/>
          <a:ln w="12700">
            <a:solidFill>
              <a:srgbClr val="263252"/>
            </a:solidFill>
            <a:prstDash val="solid"/>
          </a:ln>
        </p:spPr>
      </p:sp>
      <p:sp>
        <p:nvSpPr>
          <p:cNvPr id="1001" name="Shape 1001"/>
          <p:cNvSpPr/>
          <p:nvPr/>
        </p:nvSpPr>
        <p:spPr>
          <a:xfrm>
            <a:off x="502920" y="1632296"/>
            <a:ext cx="128016" cy="128016"/>
          </a:xfrm>
          <a:prstGeom prst="ellipse">
            <a:avLst/>
          </a:prstGeom>
          <a:solidFill>
            <a:srgbClr val="2BE0BE"/>
          </a:solidFill>
          <a:ln/>
        </p:spPr>
      </p:sp>
      <p:sp>
        <p:nvSpPr>
          <p:cNvPr id="1002" name="Text 1002"/>
          <p:cNvSpPr/>
          <p:nvPr/>
        </p:nvSpPr>
        <p:spPr>
          <a:xfrm>
            <a:off x="868680" y="1550000"/>
            <a:ext cx="5760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EDF1F7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DevOps Diploma</a:t>
            </a:r>
            <a:endParaRPr lang="en-US" sz="1450" dirty="0"/>
          </a:p>
        </p:txBody>
      </p:sp>
      <p:sp>
        <p:nvSpPr>
          <p:cNvPr id="1005" name="Text 1005"/>
          <p:cNvSpPr/>
          <p:nvPr/>
        </p:nvSpPr>
        <p:spPr>
          <a:xfrm>
            <a:off x="9311335" y="1550000"/>
            <a:ext cx="2377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50" b="1" dirty="0">
                <a:solidFill>
                  <a:srgbClr val="8B96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04/2025 – 10/2026</a:t>
            </a:r>
            <a:endParaRPr lang="en-US" sz="1050" dirty="0"/>
          </a:p>
        </p:txBody>
      </p:sp>
      <p:sp>
        <p:nvSpPr>
          <p:cNvPr id="1003" name="Text 1003"/>
          <p:cNvSpPr/>
          <p:nvPr/>
        </p:nvSpPr>
        <p:spPr>
          <a:xfrm>
            <a:off x="868680" y="1833464"/>
            <a:ext cx="5760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2BE0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IT-Gate &amp; Ain Shams University (ASU)</a:t>
            </a:r>
            <a:endParaRPr lang="en-US" sz="1100" dirty="0"/>
          </a:p>
        </p:txBody>
      </p:sp>
      <p:sp>
        <p:nvSpPr>
          <p:cNvPr id="1004" name="Text 1004"/>
          <p:cNvSpPr/>
          <p:nvPr/>
        </p:nvSpPr>
        <p:spPr>
          <a:xfrm>
            <a:off x="868680" y="2116928"/>
            <a:ext cx="10820095" cy="40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8B96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Applied Linux (RHEL Admin 1 and 2), Docker, Kubernetes, Helm, OpenShift, Jenkins, GitLab, GitHub Actions, ArgoCD, Terraform, and Ansible.</a:t>
            </a:r>
            <a:endParaRPr lang="en-US" sz="1000" dirty="0"/>
          </a:p>
        </p:txBody>
      </p:sp>
      <p:sp>
        <p:nvSpPr>
          <p:cNvPr id="1006" name="Shape 1006"/>
          <p:cNvSpPr/>
          <p:nvPr/>
        </p:nvSpPr>
        <p:spPr>
          <a:xfrm>
            <a:off x="502920" y="2662296"/>
            <a:ext cx="128016" cy="128016"/>
          </a:xfrm>
          <a:prstGeom prst="ellipse">
            <a:avLst/>
          </a:prstGeom>
          <a:solidFill>
            <a:srgbClr val="2BE0BE"/>
          </a:solidFill>
          <a:ln/>
        </p:spPr>
      </p:sp>
      <p:sp>
        <p:nvSpPr>
          <p:cNvPr id="1007" name="Text 1007"/>
          <p:cNvSpPr/>
          <p:nvPr/>
        </p:nvSpPr>
        <p:spPr>
          <a:xfrm>
            <a:off x="868680" y="2580000"/>
            <a:ext cx="5760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EDF1F7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KodeKloud DevOps Diploma</a:t>
            </a:r>
            <a:endParaRPr lang="en-US" sz="1450" dirty="0"/>
          </a:p>
        </p:txBody>
      </p:sp>
      <p:sp>
        <p:nvSpPr>
          <p:cNvPr id="1008" name="Text 1008"/>
          <p:cNvSpPr/>
          <p:nvPr/>
        </p:nvSpPr>
        <p:spPr>
          <a:xfrm>
            <a:off x="868680" y="2863464"/>
            <a:ext cx="5760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2BE0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KodeKloud</a:t>
            </a:r>
            <a:endParaRPr lang="en-US" sz="1100" dirty="0"/>
          </a:p>
        </p:txBody>
      </p:sp>
      <p:sp>
        <p:nvSpPr>
          <p:cNvPr id="1009" name="Text 1009"/>
          <p:cNvSpPr/>
          <p:nvPr/>
        </p:nvSpPr>
        <p:spPr>
          <a:xfrm>
            <a:off x="868680" y="3146928"/>
            <a:ext cx="10820095" cy="40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8B96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Hands-on labs across Python, Golang, Docker, and the 12-Factor App methodology.</a:t>
            </a:r>
            <a:endParaRPr lang="en-US" sz="1000" dirty="0"/>
          </a:p>
        </p:txBody>
      </p:sp>
      <p:sp>
        <p:nvSpPr>
          <p:cNvPr id="1010" name="Shape 1010"/>
          <p:cNvSpPr/>
          <p:nvPr/>
        </p:nvSpPr>
        <p:spPr>
          <a:xfrm>
            <a:off x="502920" y="3692296"/>
            <a:ext cx="128016" cy="128016"/>
          </a:xfrm>
          <a:prstGeom prst="ellipse">
            <a:avLst/>
          </a:prstGeom>
          <a:solidFill>
            <a:srgbClr val="2BE0BE"/>
          </a:solidFill>
          <a:ln/>
        </p:spPr>
      </p:sp>
      <p:sp>
        <p:nvSpPr>
          <p:cNvPr id="1011" name="Text 1011"/>
          <p:cNvSpPr/>
          <p:nvPr/>
        </p:nvSpPr>
        <p:spPr>
          <a:xfrm>
            <a:off x="868680" y="3610000"/>
            <a:ext cx="5760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EDF1F7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Mahara-Tech Certificates</a:t>
            </a:r>
            <a:endParaRPr lang="en-US" sz="1450" dirty="0"/>
          </a:p>
        </p:txBody>
      </p:sp>
      <p:sp>
        <p:nvSpPr>
          <p:cNvPr id="1012" name="Text 1012"/>
          <p:cNvSpPr/>
          <p:nvPr/>
        </p:nvSpPr>
        <p:spPr>
          <a:xfrm>
            <a:off x="868680" y="3893464"/>
            <a:ext cx="5760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2BE0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ITI Mahara-Tech</a:t>
            </a:r>
            <a:endParaRPr lang="en-US" sz="1100" dirty="0"/>
          </a:p>
        </p:txBody>
      </p:sp>
      <p:sp>
        <p:nvSpPr>
          <p:cNvPr id="1013" name="Text 1013"/>
          <p:cNvSpPr/>
          <p:nvPr/>
        </p:nvSpPr>
        <p:spPr>
          <a:xfrm>
            <a:off x="868680" y="4176928"/>
            <a:ext cx="10820095" cy="40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8B96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series of foundational tracks: relational databases, Python programming, HTML/CSS, and Ubuntu Linux basics.</a:t>
            </a:r>
            <a:endParaRPr lang="en-US" sz="1000" dirty="0"/>
          </a:p>
        </p:txBody>
      </p:sp>
      <p:sp>
        <p:nvSpPr>
          <p:cNvPr id="1014" name="Shape 1014"/>
          <p:cNvSpPr/>
          <p:nvPr/>
        </p:nvSpPr>
        <p:spPr>
          <a:xfrm>
            <a:off x="502920" y="4722296"/>
            <a:ext cx="128016" cy="128016"/>
          </a:xfrm>
          <a:prstGeom prst="ellipse">
            <a:avLst/>
          </a:prstGeom>
          <a:solidFill>
            <a:srgbClr val="2BE0BE"/>
          </a:solidFill>
          <a:ln/>
        </p:spPr>
      </p:sp>
      <p:sp>
        <p:nvSpPr>
          <p:cNvPr id="1015" name="Text 1015"/>
          <p:cNvSpPr/>
          <p:nvPr/>
        </p:nvSpPr>
        <p:spPr>
          <a:xfrm>
            <a:off x="868680" y="4640000"/>
            <a:ext cx="5760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EDF1F7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VMware vSphere Mastery</a:t>
            </a:r>
            <a:endParaRPr lang="en-US" sz="1450" dirty="0"/>
          </a:p>
        </p:txBody>
      </p:sp>
      <p:sp>
        <p:nvSpPr>
          <p:cNvPr id="1016" name="Text 1016"/>
          <p:cNvSpPr/>
          <p:nvPr/>
        </p:nvSpPr>
        <p:spPr>
          <a:xfrm>
            <a:off x="868680" y="4923464"/>
            <a:ext cx="5760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2BE0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Udemy</a:t>
            </a:r>
            <a:endParaRPr lang="en-US" sz="1100" dirty="0"/>
          </a:p>
        </p:txBody>
      </p:sp>
      <p:sp>
        <p:nvSpPr>
          <p:cNvPr id="1017" name="Text 1017"/>
          <p:cNvSpPr/>
          <p:nvPr/>
        </p:nvSpPr>
        <p:spPr>
          <a:xfrm>
            <a:off x="868680" y="5206928"/>
            <a:ext cx="10820095" cy="40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8B96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Hands-on administration of VMware vSphere, ESXi hosts, and vCenter Server in virtualized data center environments.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502920" y="6473952"/>
            <a:ext cx="64008" cy="64008"/>
          </a:xfrm>
          <a:prstGeom prst="ellipse">
            <a:avLst/>
          </a:prstGeom>
          <a:solidFill>
            <a:srgbClr val="2BE0BE"/>
          </a:solidFill>
          <a:ln/>
        </p:spPr>
      </p:sp>
      <p:sp>
        <p:nvSpPr>
          <p:cNvPr id="34" name="Text 32"/>
          <p:cNvSpPr/>
          <p:nvPr/>
        </p:nvSpPr>
        <p:spPr>
          <a:xfrm>
            <a:off x="649224" y="635508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8B96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Mina John Emil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11231575" y="635508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B96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502920"/>
            <a:ext cx="1510589" cy="329184"/>
          </a:xfrm>
          <a:prstGeom prst="roundRect">
            <a:avLst>
              <a:gd name="adj" fmla="val 25000"/>
            </a:avLst>
          </a:prstGeom>
          <a:solidFill>
            <a:srgbClr val="2BE0BE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502920"/>
            <a:ext cx="1510589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kern="0" spc="100" dirty="0">
                <a:solidFill>
                  <a:srgbClr val="0724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SKILLS &amp; TOOLS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502920" y="1188720"/>
            <a:ext cx="3545738" cy="2331720"/>
          </a:xfrm>
          <a:prstGeom prst="roundRect">
            <a:avLst>
              <a:gd name="adj" fmla="val 3137"/>
            </a:avLst>
          </a:prstGeom>
          <a:solidFill>
            <a:srgbClr val="141D2E"/>
          </a:solidFill>
          <a:ln w="12700">
            <a:solidFill>
              <a:srgbClr val="263252"/>
            </a:solidFill>
            <a:prstDash val="solid"/>
          </a:ln>
          <a:effectLst>
            <a:outerShdw blurRad="101600" dist="38100" dir="5400000" algn="bl" rotWithShape="0">
              <a:srgbClr val="000000">
                <a:alpha val="3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58952" y="1408176"/>
            <a:ext cx="82296" cy="82296"/>
          </a:xfrm>
          <a:prstGeom prst="ellipse">
            <a:avLst/>
          </a:prstGeom>
          <a:solidFill>
            <a:srgbClr val="2BE0BE"/>
          </a:solidFill>
          <a:ln/>
        </p:spPr>
      </p:sp>
      <p:sp>
        <p:nvSpPr>
          <p:cNvPr id="6" name="Text 4"/>
          <p:cNvSpPr/>
          <p:nvPr/>
        </p:nvSpPr>
        <p:spPr>
          <a:xfrm>
            <a:off x="941832" y="1316736"/>
            <a:ext cx="285079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EDF1F7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DevOps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758952" y="1783080"/>
            <a:ext cx="3088538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52400" indent="-152400">
              <a:lnSpc>
                <a:spcPct val="110000"/>
              </a:lnSpc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8B96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Docker / Podman</a:t>
            </a:r>
            <a:endParaRPr lang="en-US" sz="1100" dirty="0"/>
          </a:p>
          <a:p>
            <a:pPr marL="152400" indent="-152400">
              <a:lnSpc>
                <a:spcPct val="110000"/>
              </a:lnSpc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8B96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Kubernetes / Helm</a:t>
            </a:r>
            <a:endParaRPr lang="en-US" sz="1100" dirty="0"/>
          </a:p>
          <a:p>
            <a:pPr marL="152400" indent="-152400">
              <a:lnSpc>
                <a:spcPct val="110000"/>
              </a:lnSpc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8B96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OpenShift</a:t>
            </a:r>
            <a:endParaRPr lang="en-US" sz="1100" dirty="0"/>
          </a:p>
          <a:p>
            <a:pPr marL="152400" indent="-152400">
              <a:lnSpc>
                <a:spcPct val="110000"/>
              </a:lnSpc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8B96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Jenkins / Azure DevOps</a:t>
            </a:r>
            <a:endParaRPr lang="en-US" sz="1100" dirty="0"/>
          </a:p>
          <a:p>
            <a:pPr marL="152400" indent="-152400">
              <a:lnSpc>
                <a:spcPct val="110000"/>
              </a:lnSpc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8B96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GitLab / GitHub Actions</a:t>
            </a:r>
            <a:endParaRPr lang="en-US" sz="1100" dirty="0"/>
          </a:p>
          <a:p>
            <a:pPr marL="152400" indent="-152400">
              <a:lnSpc>
                <a:spcPct val="110000"/>
              </a:lnSpc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8B96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Argo CD</a:t>
            </a:r>
            <a:endParaRPr lang="en-US" sz="1100" dirty="0"/>
          </a:p>
          <a:p>
            <a:pPr marL="152400" indent="-152400">
              <a:lnSpc>
                <a:spcPct val="110000"/>
              </a:lnSpc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8B96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Ansible / Terraform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322978" y="1188720"/>
            <a:ext cx="3545738" cy="2331720"/>
          </a:xfrm>
          <a:prstGeom prst="roundRect">
            <a:avLst>
              <a:gd name="adj" fmla="val 3137"/>
            </a:avLst>
          </a:prstGeom>
          <a:solidFill>
            <a:srgbClr val="141D2E"/>
          </a:solidFill>
          <a:ln w="12700">
            <a:solidFill>
              <a:srgbClr val="263252"/>
            </a:solidFill>
            <a:prstDash val="solid"/>
          </a:ln>
          <a:effectLst>
            <a:outerShdw blurRad="101600" dist="38100" dir="5400000" algn="bl" rotWithShape="0">
              <a:srgbClr val="000000">
                <a:alpha val="35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579010" y="1408176"/>
            <a:ext cx="82296" cy="82296"/>
          </a:xfrm>
          <a:prstGeom prst="ellipse">
            <a:avLst/>
          </a:prstGeom>
          <a:solidFill>
            <a:srgbClr val="2BE0BE"/>
          </a:solidFill>
          <a:ln/>
        </p:spPr>
      </p:sp>
      <p:sp>
        <p:nvSpPr>
          <p:cNvPr id="10" name="Text 8"/>
          <p:cNvSpPr/>
          <p:nvPr/>
        </p:nvSpPr>
        <p:spPr>
          <a:xfrm>
            <a:off x="4761890" y="1316736"/>
            <a:ext cx="285079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EDF1F7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Cloud &amp; Admin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4579010" y="1783080"/>
            <a:ext cx="3088538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52400" indent="-152400">
              <a:lnSpc>
                <a:spcPct val="110000"/>
              </a:lnSpc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8B96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AWS (SAA)</a:t>
            </a:r>
            <a:endParaRPr lang="en-US" sz="1100" dirty="0"/>
          </a:p>
          <a:p>
            <a:pPr marL="152400" indent="-152400">
              <a:lnSpc>
                <a:spcPct val="110000"/>
              </a:lnSpc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8B96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Azure (AZ-204)</a:t>
            </a:r>
            <a:endParaRPr lang="en-US" sz="1100" dirty="0"/>
          </a:p>
          <a:p>
            <a:pPr marL="152400" indent="-152400">
              <a:lnSpc>
                <a:spcPct val="110000"/>
              </a:lnSpc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8B96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Oracle Cloud Architect</a:t>
            </a:r>
            <a:endParaRPr lang="en-US" sz="1100" dirty="0"/>
          </a:p>
          <a:p>
            <a:pPr marL="152400" indent="-152400">
              <a:lnSpc>
                <a:spcPct val="110000"/>
              </a:lnSpc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8B96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Linux Admin 1 &amp; 2</a:t>
            </a:r>
            <a:endParaRPr lang="en-US" sz="1100" dirty="0"/>
          </a:p>
          <a:p>
            <a:pPr marL="152400" indent="-152400">
              <a:lnSpc>
                <a:spcPct val="110000"/>
              </a:lnSpc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8B96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Bash scripting</a:t>
            </a:r>
            <a:endParaRPr lang="en-US" sz="1100" dirty="0"/>
          </a:p>
          <a:p>
            <a:pPr marL="152400" indent="-152400">
              <a:lnSpc>
                <a:spcPct val="110000"/>
              </a:lnSpc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8B96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CCNA networking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8143037" y="1188720"/>
            <a:ext cx="3545738" cy="2331720"/>
          </a:xfrm>
          <a:prstGeom prst="roundRect">
            <a:avLst>
              <a:gd name="adj" fmla="val 3137"/>
            </a:avLst>
          </a:prstGeom>
          <a:solidFill>
            <a:srgbClr val="141D2E"/>
          </a:solidFill>
          <a:ln w="12700">
            <a:solidFill>
              <a:srgbClr val="263252"/>
            </a:solidFill>
            <a:prstDash val="solid"/>
          </a:ln>
          <a:effectLst>
            <a:outerShdw blurRad="101600" dist="38100" dir="5400000" algn="bl" rotWithShape="0">
              <a:srgbClr val="000000">
                <a:alpha val="35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8399069" y="1408176"/>
            <a:ext cx="82296" cy="82296"/>
          </a:xfrm>
          <a:prstGeom prst="ellipse">
            <a:avLst/>
          </a:prstGeom>
          <a:solidFill>
            <a:srgbClr val="2BE0BE"/>
          </a:solidFill>
          <a:ln/>
        </p:spPr>
      </p:sp>
      <p:sp>
        <p:nvSpPr>
          <p:cNvPr id="14" name="Text 12"/>
          <p:cNvSpPr/>
          <p:nvPr/>
        </p:nvSpPr>
        <p:spPr>
          <a:xfrm>
            <a:off x="8581949" y="1316736"/>
            <a:ext cx="285079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EDF1F7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AI &amp; Machine Learning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8399069" y="1783080"/>
            <a:ext cx="3088538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52400" indent="-152400">
              <a:lnSpc>
                <a:spcPct val="110000"/>
              </a:lnSpc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8B96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LLMs &amp; prompt engineering</a:t>
            </a:r>
            <a:endParaRPr lang="en-US" sz="1100" dirty="0"/>
          </a:p>
          <a:p>
            <a:pPr marL="152400" indent="-152400">
              <a:lnSpc>
                <a:spcPct val="110000"/>
              </a:lnSpc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8B96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LangChain, RAG, agents</a:t>
            </a:r>
            <a:endParaRPr lang="en-US" sz="1100" dirty="0"/>
          </a:p>
          <a:p>
            <a:pPr marL="152400" indent="-152400">
              <a:lnSpc>
                <a:spcPct val="110000"/>
              </a:lnSpc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8B96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MLflow, Hugging Face</a:t>
            </a:r>
            <a:endParaRPr lang="en-US" sz="1100" dirty="0"/>
          </a:p>
          <a:p>
            <a:pPr marL="152400" indent="-152400">
              <a:lnSpc>
                <a:spcPct val="110000"/>
              </a:lnSpc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8B96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Neural nets, XGBoost</a:t>
            </a:r>
            <a:endParaRPr lang="en-US" sz="1100" dirty="0"/>
          </a:p>
          <a:p>
            <a:pPr marL="152400" indent="-152400">
              <a:lnSpc>
                <a:spcPct val="110000"/>
              </a:lnSpc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8B96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Regression &amp; recommenders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502920" y="3794760"/>
            <a:ext cx="3545738" cy="2331720"/>
          </a:xfrm>
          <a:prstGeom prst="roundRect">
            <a:avLst>
              <a:gd name="adj" fmla="val 3137"/>
            </a:avLst>
          </a:prstGeom>
          <a:solidFill>
            <a:srgbClr val="141D2E"/>
          </a:solidFill>
          <a:ln w="12700">
            <a:solidFill>
              <a:srgbClr val="263252"/>
            </a:solidFill>
            <a:prstDash val="solid"/>
          </a:ln>
          <a:effectLst>
            <a:outerShdw blurRad="101600" dist="38100" dir="5400000" algn="bl" rotWithShape="0">
              <a:srgbClr val="000000">
                <a:alpha val="35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758952" y="4014216"/>
            <a:ext cx="82296" cy="82296"/>
          </a:xfrm>
          <a:prstGeom prst="ellipse">
            <a:avLst/>
          </a:prstGeom>
          <a:solidFill>
            <a:srgbClr val="2BE0BE"/>
          </a:solidFill>
          <a:ln/>
        </p:spPr>
      </p:sp>
      <p:sp>
        <p:nvSpPr>
          <p:cNvPr id="18" name="Text 16"/>
          <p:cNvSpPr/>
          <p:nvPr/>
        </p:nvSpPr>
        <p:spPr>
          <a:xfrm>
            <a:off x="941832" y="3922776"/>
            <a:ext cx="285079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EDF1F7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Programming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758952" y="4389120"/>
            <a:ext cx="3088538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52400" indent="-152400">
              <a:lnSpc>
                <a:spcPct val="110000"/>
              </a:lnSpc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8B96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</a:t>
            </a:r>
            <a:endParaRPr lang="en-US" sz="1100" dirty="0"/>
          </a:p>
          <a:p>
            <a:pPr marL="152400" indent="-152400">
              <a:lnSpc>
                <a:spcPct val="110000"/>
              </a:lnSpc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8B96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</a:t>
            </a:r>
            <a:endParaRPr lang="en-US" sz="1100" dirty="0"/>
          </a:p>
          <a:p>
            <a:pPr marL="152400" indent="-152400">
              <a:lnSpc>
                <a:spcPct val="110000"/>
              </a:lnSpc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8B96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 / C++</a:t>
            </a:r>
            <a:endParaRPr lang="en-US" sz="1100" dirty="0"/>
          </a:p>
          <a:p>
            <a:pPr marL="152400" indent="-152400">
              <a:lnSpc>
                <a:spcPct val="110000"/>
              </a:lnSpc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8B96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JavaScript</a:t>
            </a:r>
            <a:endParaRPr lang="en-US" sz="1100" dirty="0"/>
          </a:p>
          <a:p>
            <a:pPr marL="152400" indent="-152400">
              <a:lnSpc>
                <a:spcPct val="110000"/>
              </a:lnSpc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8B96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HTML / CSS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4322978" y="3794760"/>
            <a:ext cx="3545738" cy="2331720"/>
          </a:xfrm>
          <a:prstGeom prst="roundRect">
            <a:avLst>
              <a:gd name="adj" fmla="val 3137"/>
            </a:avLst>
          </a:prstGeom>
          <a:solidFill>
            <a:srgbClr val="141D2E"/>
          </a:solidFill>
          <a:ln w="12700">
            <a:solidFill>
              <a:srgbClr val="263252"/>
            </a:solidFill>
            <a:prstDash val="solid"/>
          </a:ln>
          <a:effectLst>
            <a:outerShdw blurRad="101600" dist="38100" dir="5400000" algn="bl" rotWithShape="0">
              <a:srgbClr val="000000">
                <a:alpha val="35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4579010" y="4014216"/>
            <a:ext cx="82296" cy="82296"/>
          </a:xfrm>
          <a:prstGeom prst="ellipse">
            <a:avLst/>
          </a:prstGeom>
          <a:solidFill>
            <a:srgbClr val="2BE0BE"/>
          </a:solidFill>
          <a:ln/>
        </p:spPr>
      </p:sp>
      <p:sp>
        <p:nvSpPr>
          <p:cNvPr id="22" name="Text 20"/>
          <p:cNvSpPr/>
          <p:nvPr/>
        </p:nvSpPr>
        <p:spPr>
          <a:xfrm>
            <a:off x="4761890" y="3922776"/>
            <a:ext cx="285079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EDF1F7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Databases &amp; Monitoring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4579010" y="4389120"/>
            <a:ext cx="3088538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52400" indent="-152400">
              <a:lnSpc>
                <a:spcPct val="110000"/>
              </a:lnSpc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8B96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MySQL / PostgreSQL</a:t>
            </a:r>
            <a:endParaRPr lang="en-US" sz="1100" dirty="0"/>
          </a:p>
          <a:p>
            <a:pPr marL="152400" indent="-152400">
              <a:lnSpc>
                <a:spcPct val="110000"/>
              </a:lnSpc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8B96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MS SQL Server</a:t>
            </a:r>
            <a:endParaRPr lang="en-US" sz="1100" dirty="0"/>
          </a:p>
          <a:p>
            <a:pPr marL="152400" indent="-152400">
              <a:lnSpc>
                <a:spcPct val="110000"/>
              </a:lnSpc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8B96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Prometheus / Grafana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8143037" y="3794760"/>
            <a:ext cx="3545738" cy="2331720"/>
          </a:xfrm>
          <a:prstGeom prst="roundRect">
            <a:avLst>
              <a:gd name="adj" fmla="val 3137"/>
            </a:avLst>
          </a:prstGeom>
          <a:solidFill>
            <a:srgbClr val="141D2E"/>
          </a:solidFill>
          <a:ln w="12700">
            <a:solidFill>
              <a:srgbClr val="263252"/>
            </a:solidFill>
            <a:prstDash val="solid"/>
          </a:ln>
          <a:effectLst>
            <a:outerShdw blurRad="101600" dist="38100" dir="5400000" algn="bl" rotWithShape="0">
              <a:srgbClr val="000000">
                <a:alpha val="35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8399069" y="4014216"/>
            <a:ext cx="82296" cy="82296"/>
          </a:xfrm>
          <a:prstGeom prst="ellipse">
            <a:avLst/>
          </a:prstGeom>
          <a:solidFill>
            <a:srgbClr val="2BE0BE"/>
          </a:solidFill>
          <a:ln/>
        </p:spPr>
      </p:sp>
      <p:sp>
        <p:nvSpPr>
          <p:cNvPr id="26" name="Text 24"/>
          <p:cNvSpPr/>
          <p:nvPr/>
        </p:nvSpPr>
        <p:spPr>
          <a:xfrm>
            <a:off x="8581949" y="3922776"/>
            <a:ext cx="285079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EDF1F7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Virtualization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8399069" y="4389120"/>
            <a:ext cx="3088538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52400" indent="-152400">
              <a:lnSpc>
                <a:spcPct val="110000"/>
              </a:lnSpc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8B96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VMware vSphere</a:t>
            </a:r>
            <a:endParaRPr lang="en-US" sz="1100" dirty="0"/>
          </a:p>
          <a:p>
            <a:pPr marL="152400" indent="-152400">
              <a:lnSpc>
                <a:spcPct val="110000"/>
              </a:lnSpc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8B96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ESXi</a:t>
            </a:r>
            <a:endParaRPr lang="en-US" sz="1100" dirty="0"/>
          </a:p>
          <a:p>
            <a:pPr marL="152400" indent="-152400">
              <a:lnSpc>
                <a:spcPct val="110000"/>
              </a:lnSpc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8B96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vCenter Server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502920" y="6473952"/>
            <a:ext cx="64008" cy="64008"/>
          </a:xfrm>
          <a:prstGeom prst="ellipse">
            <a:avLst/>
          </a:prstGeom>
          <a:solidFill>
            <a:srgbClr val="2BE0BE"/>
          </a:solidFill>
          <a:ln/>
        </p:spPr>
      </p:sp>
      <p:sp>
        <p:nvSpPr>
          <p:cNvPr id="29" name="Text 27"/>
          <p:cNvSpPr/>
          <p:nvPr/>
        </p:nvSpPr>
        <p:spPr>
          <a:xfrm>
            <a:off x="649224" y="635508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8B96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Mina John Emil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11231575" y="635508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B96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502920"/>
            <a:ext cx="1152144" cy="329184"/>
          </a:xfrm>
          <a:prstGeom prst="roundRect">
            <a:avLst>
              <a:gd name="adj" fmla="val 25000"/>
            </a:avLst>
          </a:prstGeom>
          <a:solidFill>
            <a:srgbClr val="2BE0BE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502920"/>
            <a:ext cx="115214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kern="0" spc="100" dirty="0">
                <a:solidFill>
                  <a:srgbClr val="0724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EXPERIENCE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585216" y="1280160"/>
            <a:ext cx="0" cy="4773168"/>
          </a:xfrm>
          <a:prstGeom prst="line">
            <a:avLst/>
          </a:prstGeom>
          <a:noFill/>
          <a:ln w="19050">
            <a:solidFill>
              <a:srgbClr val="263252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21208" y="1243584"/>
            <a:ext cx="128016" cy="128016"/>
          </a:xfrm>
          <a:prstGeom prst="ellipse">
            <a:avLst/>
          </a:prstGeom>
          <a:solidFill>
            <a:srgbClr val="2BE0BE"/>
          </a:solidFill>
          <a:ln/>
        </p:spPr>
      </p:sp>
      <p:sp>
        <p:nvSpPr>
          <p:cNvPr id="6" name="Text 4"/>
          <p:cNvSpPr/>
          <p:nvPr/>
        </p:nvSpPr>
        <p:spPr>
          <a:xfrm>
            <a:off x="868680" y="4946904"/>
            <a:ext cx="5760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EDF1F7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Network (CCNA) Instructor</a:t>
            </a:r>
            <a:endParaRPr lang="en-US" sz="1450" dirty="0"/>
          </a:p>
        </p:txBody>
      </p:sp>
      <p:sp>
        <p:nvSpPr>
          <p:cNvPr id="7" name="Text 5"/>
          <p:cNvSpPr/>
          <p:nvPr/>
        </p:nvSpPr>
        <p:spPr>
          <a:xfrm>
            <a:off x="868680" y="5230368"/>
            <a:ext cx="5760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2BE0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IEEE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9311335" y="4946904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50" b="1" dirty="0">
                <a:solidFill>
                  <a:srgbClr val="8B96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OCT 2023 – OCT 2024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868680" y="5486400"/>
            <a:ext cx="10820095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8B96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 worked as a networking instructor and covered topics in CCNA (200-301) as addresses network access, including configuring and troubleshooting, routing and switching, VLAN, IP connectivity and services, and network security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521208" y="2505456"/>
            <a:ext cx="128016" cy="128016"/>
          </a:xfrm>
          <a:prstGeom prst="ellipse">
            <a:avLst/>
          </a:prstGeom>
          <a:solidFill>
            <a:srgbClr val="2BE0BE"/>
          </a:solidFill>
          <a:ln/>
        </p:spPr>
      </p:sp>
      <p:sp>
        <p:nvSpPr>
          <p:cNvPr id="11" name="Text 9"/>
          <p:cNvSpPr/>
          <p:nvPr/>
        </p:nvSpPr>
        <p:spPr>
          <a:xfrm>
            <a:off x="868680" y="1161288"/>
            <a:ext cx="5760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EDF1F7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Linux Administrator (Training)</a:t>
            </a:r>
            <a:endParaRPr lang="en-US" sz="1450" dirty="0"/>
          </a:p>
        </p:txBody>
      </p:sp>
      <p:sp>
        <p:nvSpPr>
          <p:cNvPr id="12" name="Text 10"/>
          <p:cNvSpPr/>
          <p:nvPr/>
        </p:nvSpPr>
        <p:spPr>
          <a:xfrm>
            <a:off x="868680" y="1444752"/>
            <a:ext cx="5760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2BE0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Orange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9311335" y="1161288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50" b="1" dirty="0">
                <a:solidFill>
                  <a:srgbClr val="8B96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 – APR 2025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868680" y="1700784"/>
            <a:ext cx="10820095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8B96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Trained in Linux system administration (Admin 1 &amp; 2) and passed final examinations.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521208" y="3767328"/>
            <a:ext cx="128016" cy="128016"/>
          </a:xfrm>
          <a:prstGeom prst="ellipse">
            <a:avLst/>
          </a:prstGeom>
          <a:solidFill>
            <a:srgbClr val="2BE0BE"/>
          </a:solidFill>
          <a:ln/>
        </p:spPr>
      </p:sp>
      <p:sp>
        <p:nvSpPr>
          <p:cNvPr id="16" name="Text 14"/>
          <p:cNvSpPr/>
          <p:nvPr/>
        </p:nvSpPr>
        <p:spPr>
          <a:xfrm>
            <a:off x="868680" y="2423160"/>
            <a:ext cx="5760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EDF1F7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AI Agent Training Program</a:t>
            </a:r>
            <a:endParaRPr lang="en-US" sz="1450" dirty="0"/>
          </a:p>
        </p:txBody>
      </p:sp>
      <p:sp>
        <p:nvSpPr>
          <p:cNvPr id="17" name="Text 15"/>
          <p:cNvSpPr/>
          <p:nvPr/>
        </p:nvSpPr>
        <p:spPr>
          <a:xfrm>
            <a:off x="868680" y="2706624"/>
            <a:ext cx="5760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2BE0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Orange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9311335" y="242316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50" b="1" dirty="0">
                <a:solidFill>
                  <a:srgbClr val="8B96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JUN – JUL 2026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868680" y="2962656"/>
            <a:ext cx="10820095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8B96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focused on the LLM, Built intelligent agents using </a:t>
            </a:r>
            <a:r>
              <a:rPr lang="en-US" sz="1100" dirty="0" err="1">
                <a:solidFill>
                  <a:srgbClr val="8B96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LangChain</a:t>
            </a:r>
            <a:r>
              <a:rPr lang="en-US" sz="1100" dirty="0">
                <a:solidFill>
                  <a:srgbClr val="8B96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and advanced memory and context handling, Designed </a:t>
            </a:r>
            <a:r>
              <a:rPr lang="en-US" sz="1100" dirty="0" err="1">
                <a:solidFill>
                  <a:srgbClr val="8B96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multiagent</a:t>
            </a:r>
            <a:r>
              <a:rPr lang="en-US" sz="1100" dirty="0">
                <a:solidFill>
                  <a:srgbClr val="8B96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collaboration workflows and integrated external knowledge bases and APIs to automate tasks, Developed web interfaces for AI agents, Successfully deployed a final AI agent project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521208" y="5029200"/>
            <a:ext cx="128016" cy="128016"/>
          </a:xfrm>
          <a:prstGeom prst="ellipse">
            <a:avLst/>
          </a:prstGeom>
          <a:solidFill>
            <a:srgbClr val="2BE0BE"/>
          </a:solidFill>
          <a:ln/>
        </p:spPr>
      </p:sp>
      <p:sp>
        <p:nvSpPr>
          <p:cNvPr id="21" name="Text 19"/>
          <p:cNvSpPr/>
          <p:nvPr/>
        </p:nvSpPr>
        <p:spPr>
          <a:xfrm>
            <a:off x="868680" y="3685032"/>
            <a:ext cx="5760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EDF1F7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AI/ML Engineering Summer Intern</a:t>
            </a:r>
            <a:endParaRPr lang="en-US" sz="1450" dirty="0"/>
          </a:p>
        </p:txBody>
      </p:sp>
      <p:sp>
        <p:nvSpPr>
          <p:cNvPr id="22" name="Text 20"/>
          <p:cNvSpPr/>
          <p:nvPr/>
        </p:nvSpPr>
        <p:spPr>
          <a:xfrm>
            <a:off x="868680" y="3968496"/>
            <a:ext cx="5760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2BE0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Commercial International Bank (CIB)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9311335" y="3685032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50" b="1" dirty="0">
                <a:solidFill>
                  <a:srgbClr val="8B96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JUL – AUG 2026</a:t>
            </a:r>
            <a:endParaRPr lang="en-US" sz="1050" dirty="0"/>
          </a:p>
        </p:txBody>
      </p:sp>
      <p:sp>
        <p:nvSpPr>
          <p:cNvPr id="24" name="Text 22"/>
          <p:cNvSpPr/>
          <p:nvPr/>
        </p:nvSpPr>
        <p:spPr>
          <a:xfrm>
            <a:off x="868680" y="4224528"/>
            <a:ext cx="10820095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8B96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Explored practical LLM and generative AI workflows within an enterprise financial sector setting.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502920" y="6473952"/>
            <a:ext cx="64008" cy="64008"/>
          </a:xfrm>
          <a:prstGeom prst="ellipse">
            <a:avLst/>
          </a:prstGeom>
          <a:solidFill>
            <a:srgbClr val="2BE0BE"/>
          </a:solidFill>
          <a:ln/>
        </p:spPr>
      </p:sp>
      <p:sp>
        <p:nvSpPr>
          <p:cNvPr id="26" name="Text 24"/>
          <p:cNvSpPr/>
          <p:nvPr/>
        </p:nvSpPr>
        <p:spPr>
          <a:xfrm>
            <a:off x="649224" y="635508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8B96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Mina John Emil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11231575" y="635508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B96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457200"/>
            <a:ext cx="1689811" cy="329184"/>
          </a:xfrm>
          <a:prstGeom prst="roundRect">
            <a:avLst>
              <a:gd name="adj" fmla="val 25000"/>
            </a:avLst>
          </a:prstGeom>
          <a:solidFill>
            <a:srgbClr val="2BE0BE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457200"/>
            <a:ext cx="1689811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kern="0" spc="100" dirty="0">
                <a:solidFill>
                  <a:srgbClr val="0724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FLAGSHIP PROJECT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02920" y="896112"/>
            <a:ext cx="1118585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EDF1F7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Mina Chat Tutorial — 3-Tier Microservices App (BuzzBoard)</a:t>
            </a:r>
            <a:endParaRPr lang="en-US" sz="2100" dirty="0"/>
          </a:p>
        </p:txBody>
      </p:sp>
      <p:sp>
        <p:nvSpPr>
          <p:cNvPr id="5" name="Text 3"/>
          <p:cNvSpPr/>
          <p:nvPr/>
        </p:nvSpPr>
        <p:spPr>
          <a:xfrm>
            <a:off x="502920" y="1335024"/>
            <a:ext cx="1118585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BE0BE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3"/>
              </a:rPr>
              <a:t>github.com/mina-john-emil/3-tier-app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502920" y="1691640"/>
            <a:ext cx="3545738" cy="786384"/>
          </a:xfrm>
          <a:prstGeom prst="roundRect">
            <a:avLst>
              <a:gd name="adj" fmla="val 9302"/>
            </a:avLst>
          </a:prstGeom>
          <a:solidFill>
            <a:srgbClr val="1A2540"/>
          </a:solidFill>
          <a:ln w="12700">
            <a:solidFill>
              <a:srgbClr val="26325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85800" y="1764792"/>
            <a:ext cx="317997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2BE0BE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5 Pods</a:t>
            </a:r>
            <a:endParaRPr lang="en-US" sz="1900" dirty="0"/>
          </a:p>
        </p:txBody>
      </p:sp>
      <p:sp>
        <p:nvSpPr>
          <p:cNvPr id="8" name="Text 6"/>
          <p:cNvSpPr/>
          <p:nvPr/>
        </p:nvSpPr>
        <p:spPr>
          <a:xfrm>
            <a:off x="685800" y="2148840"/>
            <a:ext cx="317997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8B96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 · mood · reactions · MySQL · Redis, all 1/1 Running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6233008" y="1706534"/>
            <a:ext cx="3545738" cy="786384"/>
          </a:xfrm>
          <a:prstGeom prst="roundRect">
            <a:avLst>
              <a:gd name="adj" fmla="val 9302"/>
            </a:avLst>
          </a:prstGeom>
          <a:solidFill>
            <a:srgbClr val="1A2540"/>
          </a:solidFill>
          <a:ln w="12700">
            <a:solidFill>
              <a:srgbClr val="263252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415888" y="1779686"/>
            <a:ext cx="317997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2BE0BE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32/32 Synced</a:t>
            </a:r>
            <a:endParaRPr lang="en-US" sz="1900" dirty="0"/>
          </a:p>
        </p:txBody>
      </p:sp>
      <p:sp>
        <p:nvSpPr>
          <p:cNvPr id="11" name="Text 9"/>
          <p:cNvSpPr/>
          <p:nvPr/>
        </p:nvSpPr>
        <p:spPr>
          <a:xfrm>
            <a:off x="6415888" y="2163734"/>
            <a:ext cx="317997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8B96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ArgoCD-managed resources, 0 out of sync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502920" y="2752344"/>
            <a:ext cx="5455768" cy="1066800"/>
          </a:xfrm>
          <a:prstGeom prst="roundRect">
            <a:avLst>
              <a:gd name="adj" fmla="val 6857"/>
            </a:avLst>
          </a:prstGeom>
          <a:solidFill>
            <a:srgbClr val="141D2E"/>
          </a:solidFill>
          <a:ln w="12700">
            <a:solidFill>
              <a:srgbClr val="263252"/>
            </a:solidFill>
            <a:prstDash val="solid"/>
          </a:ln>
          <a:effectLst>
            <a:outerShdw blurRad="101600" dist="38100" dir="5400000" algn="bl" rotWithShape="0">
              <a:srgbClr val="000000">
                <a:alpha val="35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740664" y="2880360"/>
            <a:ext cx="4980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80" dirty="0">
                <a:solidFill>
                  <a:srgbClr val="2BE0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Orchestration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740664" y="3154680"/>
            <a:ext cx="4998568" cy="5364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8000"/>
              </a:lnSpc>
              <a:buNone/>
            </a:pPr>
            <a:r>
              <a:rPr lang="en-US" sz="1080" dirty="0">
                <a:solidFill>
                  <a:srgbClr val="EDF1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3-tier stack on Kubernetes — frontend, mood, and reactions services plus MySQL and Redis — using Namespaces, NetworkPolicies, HPA, and StatefulSets.</a:t>
            </a:r>
            <a:endParaRPr lang="en-US" sz="1080" dirty="0"/>
          </a:p>
        </p:txBody>
      </p:sp>
      <p:sp>
        <p:nvSpPr>
          <p:cNvPr id="18" name="Shape 16"/>
          <p:cNvSpPr/>
          <p:nvPr/>
        </p:nvSpPr>
        <p:spPr>
          <a:xfrm>
            <a:off x="6233008" y="2752344"/>
            <a:ext cx="5455768" cy="1066800"/>
          </a:xfrm>
          <a:prstGeom prst="roundRect">
            <a:avLst>
              <a:gd name="adj" fmla="val 6857"/>
            </a:avLst>
          </a:prstGeom>
          <a:solidFill>
            <a:srgbClr val="141D2E"/>
          </a:solidFill>
          <a:ln w="12700">
            <a:solidFill>
              <a:srgbClr val="263252"/>
            </a:solidFill>
            <a:prstDash val="solid"/>
          </a:ln>
          <a:effectLst>
            <a:outerShdw blurRad="101600" dist="38100" dir="5400000" algn="bl" rotWithShape="0">
              <a:srgbClr val="000000">
                <a:alpha val="35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6470752" y="2880360"/>
            <a:ext cx="4980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80" dirty="0">
                <a:solidFill>
                  <a:srgbClr val="2BE0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Packaging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6470752" y="3154680"/>
            <a:ext cx="4998568" cy="5364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8000"/>
              </a:lnSpc>
              <a:buNone/>
            </a:pPr>
            <a:r>
              <a:rPr lang="en-US" sz="1080" dirty="0">
                <a:solidFill>
                  <a:srgbClr val="EDF1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modular Helm chart (helm upgrade --install buzzboard) standardizes every environment — no hand-edited YAML per cluster.</a:t>
            </a:r>
            <a:endParaRPr lang="en-US" sz="1080" dirty="0"/>
          </a:p>
        </p:txBody>
      </p:sp>
      <p:sp>
        <p:nvSpPr>
          <p:cNvPr id="21" name="Shape 19"/>
          <p:cNvSpPr/>
          <p:nvPr/>
        </p:nvSpPr>
        <p:spPr>
          <a:xfrm>
            <a:off x="502920" y="4020312"/>
            <a:ext cx="5455768" cy="1066800"/>
          </a:xfrm>
          <a:prstGeom prst="roundRect">
            <a:avLst>
              <a:gd name="adj" fmla="val 6857"/>
            </a:avLst>
          </a:prstGeom>
          <a:solidFill>
            <a:srgbClr val="141D2E"/>
          </a:solidFill>
          <a:ln w="12700">
            <a:solidFill>
              <a:srgbClr val="263252"/>
            </a:solidFill>
            <a:prstDash val="solid"/>
          </a:ln>
          <a:effectLst>
            <a:outerShdw blurRad="101600" dist="38100" dir="5400000" algn="bl" rotWithShape="0">
              <a:srgbClr val="000000">
                <a:alpha val="35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740664" y="4148328"/>
            <a:ext cx="4980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80" dirty="0">
                <a:solidFill>
                  <a:srgbClr val="2BE0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CI/CD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740664" y="4422648"/>
            <a:ext cx="4998568" cy="5364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8000"/>
              </a:lnSpc>
              <a:buNone/>
            </a:pPr>
            <a:r>
              <a:rPr lang="en-US" sz="1080" dirty="0">
                <a:solidFill>
                  <a:srgbClr val="EDF1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Azure DevOps pipeline builds &amp; pushes Docker images (~2m 12s), then deploys to EC2 via Compose or to Kubernetes via Helm (~25s), auto-triggered on every push to main.</a:t>
            </a:r>
            <a:endParaRPr lang="en-US" sz="1080" dirty="0"/>
          </a:p>
        </p:txBody>
      </p:sp>
      <p:sp>
        <p:nvSpPr>
          <p:cNvPr id="24" name="Shape 22"/>
          <p:cNvSpPr/>
          <p:nvPr/>
        </p:nvSpPr>
        <p:spPr>
          <a:xfrm>
            <a:off x="6233008" y="4020312"/>
            <a:ext cx="5455768" cy="1066800"/>
          </a:xfrm>
          <a:prstGeom prst="roundRect">
            <a:avLst>
              <a:gd name="adj" fmla="val 6857"/>
            </a:avLst>
          </a:prstGeom>
          <a:solidFill>
            <a:srgbClr val="141D2E"/>
          </a:solidFill>
          <a:ln w="12700">
            <a:solidFill>
              <a:srgbClr val="263252"/>
            </a:solidFill>
            <a:prstDash val="solid"/>
          </a:ln>
          <a:effectLst>
            <a:outerShdw blurRad="101600" dist="38100" dir="5400000" algn="bl" rotWithShape="0">
              <a:srgbClr val="000000">
                <a:alpha val="35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6470752" y="4148328"/>
            <a:ext cx="4980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80" dirty="0">
                <a:solidFill>
                  <a:srgbClr val="2BE0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GitOps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6470752" y="4422648"/>
            <a:ext cx="4998568" cy="5364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8000"/>
              </a:lnSpc>
              <a:buNone/>
            </a:pPr>
            <a:r>
              <a:rPr lang="en-US" sz="1080" dirty="0">
                <a:solidFill>
                  <a:srgbClr val="EDF1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ArgoCD v3.3.6 keeps 32 resources auto-synced and Healthy — Git is the single source of truth, zero manual kubectl apply.</a:t>
            </a:r>
            <a:endParaRPr lang="en-US" sz="1080" dirty="0"/>
          </a:p>
        </p:txBody>
      </p:sp>
      <p:sp>
        <p:nvSpPr>
          <p:cNvPr id="27" name="Shape 25"/>
          <p:cNvSpPr/>
          <p:nvPr/>
        </p:nvSpPr>
        <p:spPr>
          <a:xfrm>
            <a:off x="502920" y="5288280"/>
            <a:ext cx="5455768" cy="1066800"/>
          </a:xfrm>
          <a:prstGeom prst="roundRect">
            <a:avLst>
              <a:gd name="adj" fmla="val 6857"/>
            </a:avLst>
          </a:prstGeom>
          <a:solidFill>
            <a:srgbClr val="141D2E"/>
          </a:solidFill>
          <a:ln w="12700">
            <a:solidFill>
              <a:srgbClr val="263252"/>
            </a:solidFill>
            <a:prstDash val="solid"/>
          </a:ln>
          <a:effectLst>
            <a:outerShdw blurRad="101600" dist="38100" dir="5400000" algn="bl" rotWithShape="0">
              <a:srgbClr val="000000">
                <a:alpha val="35000"/>
              </a:srgbClr>
            </a:outerShdw>
          </a:effectLst>
        </p:spPr>
      </p:sp>
      <p:sp>
        <p:nvSpPr>
          <p:cNvPr id="28" name="Text 26"/>
          <p:cNvSpPr/>
          <p:nvPr/>
        </p:nvSpPr>
        <p:spPr>
          <a:xfrm>
            <a:off x="740664" y="5416296"/>
            <a:ext cx="4980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80" dirty="0">
                <a:solidFill>
                  <a:srgbClr val="2BE0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Networking &amp; Security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740664" y="5690616"/>
            <a:ext cx="4998568" cy="5364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8000"/>
              </a:lnSpc>
              <a:buNone/>
            </a:pPr>
            <a:r>
              <a:rPr lang="en-US" sz="1080" dirty="0">
                <a:solidFill>
                  <a:srgbClr val="EDF1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TLS-terminated Ingress at buzzboard.local, IRSA-scoped IAM roles per pod, and secrets pulled at runtime from AWS Secrets Manager behind a KMS-encrypted vault.</a:t>
            </a:r>
            <a:endParaRPr lang="en-US" sz="1080" dirty="0"/>
          </a:p>
        </p:txBody>
      </p:sp>
      <p:sp>
        <p:nvSpPr>
          <p:cNvPr id="30" name="Shape 28"/>
          <p:cNvSpPr/>
          <p:nvPr/>
        </p:nvSpPr>
        <p:spPr>
          <a:xfrm>
            <a:off x="6233008" y="5288280"/>
            <a:ext cx="5455768" cy="1066800"/>
          </a:xfrm>
          <a:prstGeom prst="roundRect">
            <a:avLst>
              <a:gd name="adj" fmla="val 6857"/>
            </a:avLst>
          </a:prstGeom>
          <a:solidFill>
            <a:srgbClr val="141D2E"/>
          </a:solidFill>
          <a:ln w="12700">
            <a:solidFill>
              <a:srgbClr val="263252"/>
            </a:solidFill>
            <a:prstDash val="solid"/>
          </a:ln>
          <a:effectLst>
            <a:outerShdw blurRad="101600" dist="38100" dir="5400000" algn="bl" rotWithShape="0">
              <a:srgbClr val="000000">
                <a:alpha val="35000"/>
              </a:srgbClr>
            </a:outerShdw>
          </a:effectLst>
        </p:spPr>
      </p:sp>
      <p:sp>
        <p:nvSpPr>
          <p:cNvPr id="31" name="Text 29"/>
          <p:cNvSpPr/>
          <p:nvPr/>
        </p:nvSpPr>
        <p:spPr>
          <a:xfrm>
            <a:off x="6470752" y="5416296"/>
            <a:ext cx="4980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80" dirty="0">
                <a:solidFill>
                  <a:srgbClr val="2BE0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AWS Migration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6470752" y="5690616"/>
            <a:ext cx="4998568" cy="5364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8000"/>
              </a:lnSpc>
              <a:buNone/>
            </a:pPr>
            <a:r>
              <a:rPr lang="en-US" sz="1080" dirty="0">
                <a:solidFill>
                  <a:srgbClr val="EDF1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move to EKS on an Auto Scaling Group of t3.micro nodes, ECR image registry, RDS (MySQL) + ElastiCache (Redis), and ALB Ingress on a custom domain via Route 53.</a:t>
            </a:r>
            <a:endParaRPr lang="en-US" sz="1080" dirty="0"/>
          </a:p>
        </p:txBody>
      </p:sp>
      <p:sp>
        <p:nvSpPr>
          <p:cNvPr id="33" name="Shape 31"/>
          <p:cNvSpPr/>
          <p:nvPr/>
        </p:nvSpPr>
        <p:spPr>
          <a:xfrm>
            <a:off x="502920" y="6473952"/>
            <a:ext cx="64008" cy="64008"/>
          </a:xfrm>
          <a:prstGeom prst="ellipse">
            <a:avLst/>
          </a:prstGeom>
          <a:solidFill>
            <a:srgbClr val="2BE0BE"/>
          </a:solidFill>
          <a:ln/>
        </p:spPr>
      </p:sp>
      <p:sp>
        <p:nvSpPr>
          <p:cNvPr id="34" name="Text 32"/>
          <p:cNvSpPr/>
          <p:nvPr/>
        </p:nvSpPr>
        <p:spPr>
          <a:xfrm>
            <a:off x="649224" y="635508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8B96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Mina John Emil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11231575" y="635508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B96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502920"/>
            <a:ext cx="1689811" cy="329184"/>
          </a:xfrm>
          <a:prstGeom prst="roundRect">
            <a:avLst>
              <a:gd name="adj" fmla="val 25000"/>
            </a:avLst>
          </a:prstGeom>
          <a:solidFill>
            <a:srgbClr val="2BE0BE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502920"/>
            <a:ext cx="1689811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kern="0" spc="100" dirty="0">
                <a:solidFill>
                  <a:srgbClr val="0724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FLAGSHIP PROJECT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02920" y="960120"/>
            <a:ext cx="1118585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EDF1F7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Mina Chat Tutorial — In the Field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502920" y="1554480"/>
            <a:ext cx="3545738" cy="4754880"/>
          </a:xfrm>
          <a:prstGeom prst="roundRect">
            <a:avLst>
              <a:gd name="adj" fmla="val 2063"/>
            </a:avLst>
          </a:prstGeom>
          <a:solidFill>
            <a:srgbClr val="141D2E"/>
          </a:solidFill>
          <a:ln w="12700">
            <a:solidFill>
              <a:srgbClr val="263252"/>
            </a:solidFill>
            <a:prstDash val="solid"/>
          </a:ln>
          <a:effectLst>
            <a:outerShdw blurRad="101600" dist="38100" dir="5400000" algn="bl" rotWithShape="0">
              <a:srgbClr val="000000">
                <a:alpha val="35000"/>
              </a:srgbClr>
            </a:outerShdw>
          </a:effectLst>
        </p:spPr>
      </p:sp>
      <p:pic>
        <p:nvPicPr>
          <p:cNvPr id="6" name="Image 0" descr="/mnt/user-data/uploads/1788717203650_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7512" y="2131903"/>
            <a:ext cx="3216554" cy="2420457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722376" y="5093208"/>
            <a:ext cx="3106826" cy="0"/>
          </a:xfrm>
          <a:prstGeom prst="line">
            <a:avLst/>
          </a:prstGeom>
          <a:noFill/>
          <a:ln w="12700">
            <a:solidFill>
              <a:srgbClr val="263252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722376" y="5202936"/>
            <a:ext cx="3125114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1000" dirty="0">
                <a:solidFill>
                  <a:srgbClr val="8B96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End-to-end AWS architecture: VPC across two AZs, EKS node group, ALB, Route 53 + ACM cert, KMS, and Secrets Manager.</a:t>
            </a:r>
            <a:endParaRPr lang="en-US" sz="1000" dirty="0"/>
          </a:p>
        </p:txBody>
      </p:sp>
      <p:sp>
        <p:nvSpPr>
          <p:cNvPr id="9" name="Shape 6"/>
          <p:cNvSpPr/>
          <p:nvPr/>
        </p:nvSpPr>
        <p:spPr>
          <a:xfrm>
            <a:off x="4322978" y="1554480"/>
            <a:ext cx="3545738" cy="4754880"/>
          </a:xfrm>
          <a:prstGeom prst="roundRect">
            <a:avLst>
              <a:gd name="adj" fmla="val 2063"/>
            </a:avLst>
          </a:prstGeom>
          <a:solidFill>
            <a:srgbClr val="141D2E"/>
          </a:solidFill>
          <a:ln w="12700">
            <a:solidFill>
              <a:srgbClr val="263252"/>
            </a:solidFill>
            <a:prstDash val="solid"/>
          </a:ln>
          <a:effectLst>
            <a:outerShdw blurRad="101600" dist="38100" dir="5400000" algn="bl" rotWithShape="0">
              <a:srgbClr val="000000">
                <a:alpha val="35000"/>
              </a:srgbClr>
            </a:outerShdw>
          </a:effectLst>
        </p:spPr>
      </p:sp>
      <p:pic>
        <p:nvPicPr>
          <p:cNvPr id="10" name="Image 1" descr="/mnt/user-data/uploads/1788717216808_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487570" y="2590765"/>
            <a:ext cx="3216554" cy="1502734"/>
          </a:xfrm>
          <a:prstGeom prst="rect">
            <a:avLst/>
          </a:prstGeom>
        </p:spPr>
      </p:pic>
      <p:sp>
        <p:nvSpPr>
          <p:cNvPr id="11" name="Shape 7"/>
          <p:cNvSpPr/>
          <p:nvPr/>
        </p:nvSpPr>
        <p:spPr>
          <a:xfrm>
            <a:off x="4542434" y="5093208"/>
            <a:ext cx="3106826" cy="0"/>
          </a:xfrm>
          <a:prstGeom prst="line">
            <a:avLst/>
          </a:prstGeom>
          <a:noFill/>
          <a:ln w="12700">
            <a:solidFill>
              <a:srgbClr val="263252"/>
            </a:solidFill>
            <a:prstDash val="solid"/>
          </a:ln>
        </p:spPr>
      </p:sp>
      <p:sp>
        <p:nvSpPr>
          <p:cNvPr id="12" name="Text 8"/>
          <p:cNvSpPr/>
          <p:nvPr/>
        </p:nvSpPr>
        <p:spPr>
          <a:xfrm>
            <a:off x="4542434" y="5202936"/>
            <a:ext cx="3125114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1000" dirty="0">
                <a:solidFill>
                  <a:srgbClr val="8B96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Service-level network diagram — frontend/reaction/mood containers pushed to ECR, with RDS and ElastiCache in private subnets behind an IAM role.</a:t>
            </a:r>
            <a:endParaRPr lang="en-US" sz="1000" dirty="0"/>
          </a:p>
        </p:txBody>
      </p:sp>
      <p:sp>
        <p:nvSpPr>
          <p:cNvPr id="13" name="Shape 9"/>
          <p:cNvSpPr/>
          <p:nvPr/>
        </p:nvSpPr>
        <p:spPr>
          <a:xfrm>
            <a:off x="8143037" y="1554480"/>
            <a:ext cx="3545738" cy="4754880"/>
          </a:xfrm>
          <a:prstGeom prst="roundRect">
            <a:avLst>
              <a:gd name="adj" fmla="val 2063"/>
            </a:avLst>
          </a:prstGeom>
          <a:solidFill>
            <a:srgbClr val="141D2E"/>
          </a:solidFill>
          <a:ln w="12700">
            <a:solidFill>
              <a:srgbClr val="263252"/>
            </a:solidFill>
            <a:prstDash val="solid"/>
          </a:ln>
          <a:effectLst>
            <a:outerShdw blurRad="101600" dist="38100" dir="5400000" algn="bl" rotWithShape="0">
              <a:srgbClr val="000000">
                <a:alpha val="35000"/>
              </a:srgbClr>
            </a:outerShdw>
          </a:effectLst>
        </p:spPr>
      </p:sp>
      <p:pic>
        <p:nvPicPr>
          <p:cNvPr id="14" name="Image 2" descr="/mnt/user-data/uploads/1788717233920_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923190" y="1719072"/>
            <a:ext cx="1985432" cy="3246120"/>
          </a:xfrm>
          <a:prstGeom prst="rect">
            <a:avLst/>
          </a:prstGeom>
        </p:spPr>
      </p:pic>
      <p:sp>
        <p:nvSpPr>
          <p:cNvPr id="15" name="Shape 10"/>
          <p:cNvSpPr/>
          <p:nvPr/>
        </p:nvSpPr>
        <p:spPr>
          <a:xfrm>
            <a:off x="8362493" y="5093208"/>
            <a:ext cx="3106826" cy="0"/>
          </a:xfrm>
          <a:prstGeom prst="line">
            <a:avLst/>
          </a:prstGeom>
          <a:noFill/>
          <a:ln w="12700">
            <a:solidFill>
              <a:srgbClr val="263252"/>
            </a:solidFill>
            <a:prstDash val="solid"/>
          </a:ln>
        </p:spPr>
      </p:sp>
      <p:sp>
        <p:nvSpPr>
          <p:cNvPr id="16" name="Text 11"/>
          <p:cNvSpPr/>
          <p:nvPr/>
        </p:nvSpPr>
        <p:spPr>
          <a:xfrm>
            <a:off x="8362493" y="5202936"/>
            <a:ext cx="3125114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1000" dirty="0">
                <a:solidFill>
                  <a:srgbClr val="8B96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live app: dark-themed sign-up screen for the Reaction Wall &amp; Mood-of-the-Day features.</a:t>
            </a:r>
            <a:endParaRPr lang="en-US" sz="1000" dirty="0"/>
          </a:p>
        </p:txBody>
      </p:sp>
      <p:sp>
        <p:nvSpPr>
          <p:cNvPr id="17" name="Shape 12"/>
          <p:cNvSpPr/>
          <p:nvPr/>
        </p:nvSpPr>
        <p:spPr>
          <a:xfrm>
            <a:off x="502920" y="6473952"/>
            <a:ext cx="64008" cy="64008"/>
          </a:xfrm>
          <a:prstGeom prst="ellipse">
            <a:avLst/>
          </a:prstGeom>
          <a:solidFill>
            <a:srgbClr val="2BE0BE"/>
          </a:solidFill>
          <a:ln/>
        </p:spPr>
      </p:sp>
      <p:sp>
        <p:nvSpPr>
          <p:cNvPr id="18" name="Text 13"/>
          <p:cNvSpPr/>
          <p:nvPr/>
        </p:nvSpPr>
        <p:spPr>
          <a:xfrm>
            <a:off x="649224" y="635508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8B96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Mina John Emil</a:t>
            </a:r>
            <a:endParaRPr lang="en-US" sz="900" dirty="0"/>
          </a:p>
        </p:txBody>
      </p:sp>
      <p:sp>
        <p:nvSpPr>
          <p:cNvPr id="19" name="Text 14"/>
          <p:cNvSpPr/>
          <p:nvPr/>
        </p:nvSpPr>
        <p:spPr>
          <a:xfrm>
            <a:off x="11231575" y="635508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B96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457200"/>
            <a:ext cx="1689811" cy="329184"/>
          </a:xfrm>
          <a:prstGeom prst="roundRect">
            <a:avLst>
              <a:gd name="adj" fmla="val 25000"/>
            </a:avLst>
          </a:prstGeom>
          <a:solidFill>
            <a:srgbClr val="2BE0BE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457200"/>
            <a:ext cx="1689811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kern="0" spc="100" dirty="0">
                <a:solidFill>
                  <a:srgbClr val="0724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FLAGSHIP PROJECT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02920" y="896112"/>
            <a:ext cx="1118585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EDF1F7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.NET Microservices Delivery Pipeline</a:t>
            </a:r>
            <a:endParaRPr lang="en-US" sz="2100" dirty="0"/>
          </a:p>
        </p:txBody>
      </p:sp>
      <p:sp>
        <p:nvSpPr>
          <p:cNvPr id="5" name="Text 3"/>
          <p:cNvSpPr/>
          <p:nvPr/>
        </p:nvSpPr>
        <p:spPr>
          <a:xfrm>
            <a:off x="502920" y="1335024"/>
            <a:ext cx="1118585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BE0BE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3"/>
              </a:rPr>
              <a:t>github.com/mina-john-emil/.NET-Microservices-Sample-mina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502920" y="1691640"/>
            <a:ext cx="3545738" cy="786384"/>
          </a:xfrm>
          <a:prstGeom prst="roundRect">
            <a:avLst>
              <a:gd name="adj" fmla="val 9302"/>
            </a:avLst>
          </a:prstGeom>
          <a:solidFill>
            <a:srgbClr val="1A2540"/>
          </a:solidFill>
          <a:ln w="12700">
            <a:solidFill>
              <a:srgbClr val="26325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85800" y="1764792"/>
            <a:ext cx="317997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2BE0BE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14 Pods</a:t>
            </a:r>
            <a:endParaRPr lang="en-US" sz="1900" dirty="0"/>
          </a:p>
        </p:txBody>
      </p:sp>
      <p:sp>
        <p:nvSpPr>
          <p:cNvPr id="8" name="Text 6"/>
          <p:cNvSpPr/>
          <p:nvPr/>
        </p:nvSpPr>
        <p:spPr>
          <a:xfrm>
            <a:off x="685800" y="2148840"/>
            <a:ext cx="317997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8B96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microservices running 1/1 across the cluster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4322978" y="1691640"/>
            <a:ext cx="3545738" cy="786384"/>
          </a:xfrm>
          <a:prstGeom prst="roundRect">
            <a:avLst>
              <a:gd name="adj" fmla="val 9302"/>
            </a:avLst>
          </a:prstGeom>
          <a:solidFill>
            <a:srgbClr val="1A2540"/>
          </a:solidFill>
          <a:ln w="12700">
            <a:solidFill>
              <a:srgbClr val="263252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505858" y="1764792"/>
            <a:ext cx="317997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2BE0BE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45/45 Synced</a:t>
            </a:r>
            <a:endParaRPr lang="en-US" sz="1900" dirty="0"/>
          </a:p>
        </p:txBody>
      </p:sp>
      <p:sp>
        <p:nvSpPr>
          <p:cNvPr id="11" name="Text 9"/>
          <p:cNvSpPr/>
          <p:nvPr/>
        </p:nvSpPr>
        <p:spPr>
          <a:xfrm>
            <a:off x="4505858" y="2148840"/>
            <a:ext cx="317997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8B96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ArgoCD-managed Kubernetes resources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8143037" y="1691640"/>
            <a:ext cx="3545738" cy="786384"/>
          </a:xfrm>
          <a:prstGeom prst="roundRect">
            <a:avLst>
              <a:gd name="adj" fmla="val 9302"/>
            </a:avLst>
          </a:prstGeom>
          <a:solidFill>
            <a:srgbClr val="1A2540"/>
          </a:solidFill>
          <a:ln w="12700">
            <a:solidFill>
              <a:srgbClr val="263252"/>
            </a:solidFill>
            <a:prstDash val="solid"/>
          </a:ln>
        </p:spPr>
        <p:txBody>
          <a:bodyPr/>
          <a:lstStyle/>
          <a:p>
            <a:endParaRPr lang="en-US" dirty="0"/>
          </a:p>
        </p:txBody>
      </p:sp>
      <p:sp>
        <p:nvSpPr>
          <p:cNvPr id="13" name="Text 11"/>
          <p:cNvSpPr/>
          <p:nvPr/>
        </p:nvSpPr>
        <p:spPr>
          <a:xfrm>
            <a:off x="8325917" y="1764792"/>
            <a:ext cx="317997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2BE0BE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9 Stages</a:t>
            </a:r>
            <a:endParaRPr lang="en-US" sz="1900" dirty="0"/>
          </a:p>
        </p:txBody>
      </p:sp>
      <p:sp>
        <p:nvSpPr>
          <p:cNvPr id="14" name="Text 12"/>
          <p:cNvSpPr/>
          <p:nvPr/>
        </p:nvSpPr>
        <p:spPr>
          <a:xfrm>
            <a:off x="8325917" y="2148840"/>
            <a:ext cx="317997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8B96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Jenkins pipeline, ~3m 38s average run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502920" y="2752344"/>
            <a:ext cx="5455768" cy="1066800"/>
          </a:xfrm>
          <a:prstGeom prst="roundRect">
            <a:avLst>
              <a:gd name="adj" fmla="val 6857"/>
            </a:avLst>
          </a:prstGeom>
          <a:solidFill>
            <a:srgbClr val="141D2E"/>
          </a:solidFill>
          <a:ln w="12700">
            <a:solidFill>
              <a:srgbClr val="263252"/>
            </a:solidFill>
            <a:prstDash val="solid"/>
          </a:ln>
          <a:effectLst>
            <a:outerShdw blurRad="101600" dist="38100" dir="5400000" algn="bl" rotWithShape="0">
              <a:srgbClr val="000000">
                <a:alpha val="35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740664" y="2880360"/>
            <a:ext cx="4980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80" dirty="0">
                <a:solidFill>
                  <a:srgbClr val="2BE0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Orchestration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740664" y="3154680"/>
            <a:ext cx="4998568" cy="5364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8000"/>
              </a:lnSpc>
              <a:buNone/>
            </a:pPr>
            <a:r>
              <a:rPr lang="en-US" sz="1080" dirty="0">
                <a:solidFill>
                  <a:srgbClr val="EDF1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14-pod e-commerce platform — Product, Basket, Order, Payment, Discount, and Identity services — deployed identically across OpenShift, KinD, and AKS.</a:t>
            </a:r>
            <a:endParaRPr lang="en-US" sz="1080" dirty="0"/>
          </a:p>
        </p:txBody>
      </p:sp>
      <p:sp>
        <p:nvSpPr>
          <p:cNvPr id="18" name="Shape 16"/>
          <p:cNvSpPr/>
          <p:nvPr/>
        </p:nvSpPr>
        <p:spPr>
          <a:xfrm>
            <a:off x="6233008" y="2752344"/>
            <a:ext cx="5455768" cy="1066800"/>
          </a:xfrm>
          <a:prstGeom prst="roundRect">
            <a:avLst>
              <a:gd name="adj" fmla="val 6857"/>
            </a:avLst>
          </a:prstGeom>
          <a:solidFill>
            <a:srgbClr val="141D2E"/>
          </a:solidFill>
          <a:ln w="12700">
            <a:solidFill>
              <a:srgbClr val="263252"/>
            </a:solidFill>
            <a:prstDash val="solid"/>
          </a:ln>
          <a:effectLst>
            <a:outerShdw blurRad="101600" dist="38100" dir="5400000" algn="bl" rotWithShape="0">
              <a:srgbClr val="000000">
                <a:alpha val="35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6470752" y="2880360"/>
            <a:ext cx="4980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80" dirty="0">
                <a:solidFill>
                  <a:srgbClr val="2BE0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Packaging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6470752" y="3154680"/>
            <a:ext cx="4998568" cy="5364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8000"/>
              </a:lnSpc>
              <a:buNone/>
            </a:pPr>
            <a:r>
              <a:rPr lang="en-US" sz="1080" dirty="0">
                <a:solidFill>
                  <a:srgbClr val="EDF1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single Helm chart (helm/microservices) parameterizes image tags, NodePorts, and per-environment config in one values.yaml.</a:t>
            </a:r>
            <a:endParaRPr lang="en-US" sz="1080" dirty="0"/>
          </a:p>
        </p:txBody>
      </p:sp>
      <p:sp>
        <p:nvSpPr>
          <p:cNvPr id="21" name="Shape 19"/>
          <p:cNvSpPr/>
          <p:nvPr/>
        </p:nvSpPr>
        <p:spPr>
          <a:xfrm>
            <a:off x="502920" y="4020312"/>
            <a:ext cx="5455768" cy="1066800"/>
          </a:xfrm>
          <a:prstGeom prst="roundRect">
            <a:avLst>
              <a:gd name="adj" fmla="val 6857"/>
            </a:avLst>
          </a:prstGeom>
          <a:solidFill>
            <a:srgbClr val="141D2E"/>
          </a:solidFill>
          <a:ln w="12700">
            <a:solidFill>
              <a:srgbClr val="263252"/>
            </a:solidFill>
            <a:prstDash val="solid"/>
          </a:ln>
          <a:effectLst>
            <a:outerShdw blurRad="101600" dist="38100" dir="5400000" algn="bl" rotWithShape="0">
              <a:srgbClr val="000000">
                <a:alpha val="35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740664" y="4148328"/>
            <a:ext cx="4980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80" dirty="0">
                <a:solidFill>
                  <a:srgbClr val="2BE0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CI/CD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740664" y="4422648"/>
            <a:ext cx="4998568" cy="5364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8000"/>
              </a:lnSpc>
              <a:buNone/>
            </a:pPr>
            <a:r>
              <a:rPr lang="en-US" sz="1080" dirty="0">
                <a:solidFill>
                  <a:srgbClr val="EDF1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Parallel Jenkins (9-stage declarative, ~3m 38s avg) and Azure DevOps pipelines automate Build → Test → Load-into-KinD → Deploy → Verify on every push.</a:t>
            </a:r>
            <a:endParaRPr lang="en-US" sz="1080" dirty="0"/>
          </a:p>
        </p:txBody>
      </p:sp>
      <p:sp>
        <p:nvSpPr>
          <p:cNvPr id="24" name="Shape 22"/>
          <p:cNvSpPr/>
          <p:nvPr/>
        </p:nvSpPr>
        <p:spPr>
          <a:xfrm>
            <a:off x="6233008" y="4020312"/>
            <a:ext cx="5455768" cy="1066800"/>
          </a:xfrm>
          <a:prstGeom prst="roundRect">
            <a:avLst>
              <a:gd name="adj" fmla="val 6857"/>
            </a:avLst>
          </a:prstGeom>
          <a:solidFill>
            <a:srgbClr val="141D2E"/>
          </a:solidFill>
          <a:ln w="12700">
            <a:solidFill>
              <a:srgbClr val="263252"/>
            </a:solidFill>
            <a:prstDash val="solid"/>
          </a:ln>
          <a:effectLst>
            <a:outerShdw blurRad="101600" dist="38100" dir="5400000" algn="bl" rotWithShape="0">
              <a:srgbClr val="000000">
                <a:alpha val="35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6470752" y="4148328"/>
            <a:ext cx="4980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80" dirty="0">
                <a:solidFill>
                  <a:srgbClr val="2BE0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GitOps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6470752" y="4422648"/>
            <a:ext cx="4998568" cy="5364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8000"/>
              </a:lnSpc>
              <a:buNone/>
            </a:pPr>
            <a:r>
              <a:rPr lang="en-US" sz="1080" dirty="0">
                <a:solidFill>
                  <a:srgbClr val="EDF1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ArgoCD keeps 45 resources auto-synced and Healthy — Deployments, Services, ConfigMaps, Secrets, and PVCs all tracked from Git.</a:t>
            </a:r>
            <a:endParaRPr lang="en-US" sz="1080" dirty="0"/>
          </a:p>
        </p:txBody>
      </p:sp>
      <p:sp>
        <p:nvSpPr>
          <p:cNvPr id="27" name="Shape 25"/>
          <p:cNvSpPr/>
          <p:nvPr/>
        </p:nvSpPr>
        <p:spPr>
          <a:xfrm>
            <a:off x="502920" y="5288280"/>
            <a:ext cx="5455768" cy="1066800"/>
          </a:xfrm>
          <a:prstGeom prst="roundRect">
            <a:avLst>
              <a:gd name="adj" fmla="val 6857"/>
            </a:avLst>
          </a:prstGeom>
          <a:solidFill>
            <a:srgbClr val="141D2E"/>
          </a:solidFill>
          <a:ln w="12700">
            <a:solidFill>
              <a:srgbClr val="263252"/>
            </a:solidFill>
            <a:prstDash val="solid"/>
          </a:ln>
          <a:effectLst>
            <a:outerShdw blurRad="101600" dist="38100" dir="5400000" algn="bl" rotWithShape="0">
              <a:srgbClr val="000000">
                <a:alpha val="35000"/>
              </a:srgbClr>
            </a:outerShdw>
          </a:effectLst>
        </p:spPr>
      </p:sp>
      <p:sp>
        <p:nvSpPr>
          <p:cNvPr id="28" name="Text 26"/>
          <p:cNvSpPr/>
          <p:nvPr/>
        </p:nvSpPr>
        <p:spPr>
          <a:xfrm>
            <a:off x="740664" y="5416296"/>
            <a:ext cx="4980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80" dirty="0">
                <a:solidFill>
                  <a:srgbClr val="2BE0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Service Communication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740664" y="5690616"/>
            <a:ext cx="4998568" cy="5364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8000"/>
              </a:lnSpc>
              <a:buNone/>
            </a:pPr>
            <a:r>
              <a:rPr lang="en-US" sz="1080" dirty="0">
                <a:solidFill>
                  <a:srgbClr val="EDF1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Ocelot API Gateways front the Web and Admin apps; services talk sync via gRPC (Basket → Discount) and async via RabbitMQ (CheckoutEvent fan-out).</a:t>
            </a:r>
            <a:endParaRPr lang="en-US" sz="1080" dirty="0"/>
          </a:p>
        </p:txBody>
      </p:sp>
      <p:sp>
        <p:nvSpPr>
          <p:cNvPr id="30" name="Shape 28"/>
          <p:cNvSpPr/>
          <p:nvPr/>
        </p:nvSpPr>
        <p:spPr>
          <a:xfrm>
            <a:off x="6233008" y="5288280"/>
            <a:ext cx="5455768" cy="1066800"/>
          </a:xfrm>
          <a:prstGeom prst="roundRect">
            <a:avLst>
              <a:gd name="adj" fmla="val 6857"/>
            </a:avLst>
          </a:prstGeom>
          <a:solidFill>
            <a:srgbClr val="141D2E"/>
          </a:solidFill>
          <a:ln w="12700">
            <a:solidFill>
              <a:srgbClr val="263252"/>
            </a:solidFill>
            <a:prstDash val="solid"/>
          </a:ln>
          <a:effectLst>
            <a:outerShdw blurRad="101600" dist="38100" dir="5400000" algn="bl" rotWithShape="0">
              <a:srgbClr val="000000">
                <a:alpha val="35000"/>
              </a:srgbClr>
            </a:outerShdw>
          </a:effectLst>
        </p:spPr>
      </p:sp>
      <p:sp>
        <p:nvSpPr>
          <p:cNvPr id="31" name="Text 29"/>
          <p:cNvSpPr/>
          <p:nvPr/>
        </p:nvSpPr>
        <p:spPr>
          <a:xfrm>
            <a:off x="6470752" y="5416296"/>
            <a:ext cx="4980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80" dirty="0">
                <a:solidFill>
                  <a:srgbClr val="2BE0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Identity &amp; Security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6470752" y="5690616"/>
            <a:ext cx="4998568" cy="5364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8000"/>
              </a:lnSpc>
              <a:buNone/>
            </a:pPr>
            <a:r>
              <a:rPr lang="en-US" sz="1080" dirty="0">
                <a:solidFill>
                  <a:srgbClr val="EDF1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Duende IdentityServer 6.2.3 issues OIDC/JWT tokens consumed by every downstream API, shared by both the Web and Admin frontends.</a:t>
            </a:r>
            <a:endParaRPr lang="en-US" sz="1080" dirty="0"/>
          </a:p>
        </p:txBody>
      </p:sp>
      <p:sp>
        <p:nvSpPr>
          <p:cNvPr id="33" name="Shape 31"/>
          <p:cNvSpPr/>
          <p:nvPr/>
        </p:nvSpPr>
        <p:spPr>
          <a:xfrm>
            <a:off x="502920" y="6473952"/>
            <a:ext cx="64008" cy="64008"/>
          </a:xfrm>
          <a:prstGeom prst="ellipse">
            <a:avLst/>
          </a:prstGeom>
          <a:solidFill>
            <a:srgbClr val="2BE0BE"/>
          </a:solidFill>
          <a:ln/>
        </p:spPr>
      </p:sp>
      <p:sp>
        <p:nvSpPr>
          <p:cNvPr id="34" name="Text 32"/>
          <p:cNvSpPr/>
          <p:nvPr/>
        </p:nvSpPr>
        <p:spPr>
          <a:xfrm>
            <a:off x="649224" y="635508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8B96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Mina John Emil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11231575" y="635508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B96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502920"/>
            <a:ext cx="1689811" cy="329184"/>
          </a:xfrm>
          <a:prstGeom prst="roundRect">
            <a:avLst>
              <a:gd name="adj" fmla="val 25000"/>
            </a:avLst>
          </a:prstGeom>
          <a:solidFill>
            <a:srgbClr val="2BE0BE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502920"/>
            <a:ext cx="1689811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kern="0" spc="100" dirty="0">
                <a:solidFill>
                  <a:srgbClr val="0724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FLAGSHIP PROJECT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02920" y="960120"/>
            <a:ext cx="1118585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EDF1F7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.NET Microservices — In the Field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502920" y="1554480"/>
            <a:ext cx="3545738" cy="4754880"/>
          </a:xfrm>
          <a:prstGeom prst="roundRect">
            <a:avLst>
              <a:gd name="adj" fmla="val 2063"/>
            </a:avLst>
          </a:prstGeom>
          <a:solidFill>
            <a:srgbClr val="141D2E"/>
          </a:solidFill>
          <a:ln w="12700">
            <a:solidFill>
              <a:srgbClr val="263252"/>
            </a:solidFill>
            <a:prstDash val="solid"/>
          </a:ln>
          <a:effectLst>
            <a:outerShdw blurRad="101600" dist="38100" dir="5400000" algn="bl" rotWithShape="0">
              <a:srgbClr val="000000">
                <a:alpha val="35000"/>
              </a:srgbClr>
            </a:outerShdw>
          </a:effectLst>
        </p:spPr>
      </p:sp>
      <p:pic>
        <p:nvPicPr>
          <p:cNvPr id="6" name="Image 0" descr="/mnt/user-data/uploads/1788717383767_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7512" y="2755826"/>
            <a:ext cx="3216554" cy="1172613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722376" y="5093208"/>
            <a:ext cx="3106826" cy="0"/>
          </a:xfrm>
          <a:prstGeom prst="line">
            <a:avLst/>
          </a:prstGeom>
          <a:noFill/>
          <a:ln w="12700">
            <a:solidFill>
              <a:srgbClr val="263252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722376" y="5202936"/>
            <a:ext cx="3125114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1000" dirty="0">
                <a:solidFill>
                  <a:srgbClr val="8B96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Duende IdentityServer 6.2.3 running on Kubernetes (NodePort 31720) — the OIDC provider for every service.</a:t>
            </a:r>
            <a:endParaRPr lang="en-US" sz="1000" dirty="0"/>
          </a:p>
        </p:txBody>
      </p:sp>
      <p:sp>
        <p:nvSpPr>
          <p:cNvPr id="9" name="Shape 6"/>
          <p:cNvSpPr/>
          <p:nvPr/>
        </p:nvSpPr>
        <p:spPr>
          <a:xfrm>
            <a:off x="4322978" y="1554480"/>
            <a:ext cx="3545738" cy="4754880"/>
          </a:xfrm>
          <a:prstGeom prst="roundRect">
            <a:avLst>
              <a:gd name="adj" fmla="val 2063"/>
            </a:avLst>
          </a:prstGeom>
          <a:solidFill>
            <a:srgbClr val="141D2E"/>
          </a:solidFill>
          <a:ln w="12700">
            <a:solidFill>
              <a:srgbClr val="263252"/>
            </a:solidFill>
            <a:prstDash val="solid"/>
          </a:ln>
          <a:effectLst>
            <a:outerShdw blurRad="101600" dist="38100" dir="5400000" algn="bl" rotWithShape="0">
              <a:srgbClr val="000000">
                <a:alpha val="35000"/>
              </a:srgbClr>
            </a:outerShdw>
          </a:effectLst>
        </p:spPr>
      </p:sp>
      <p:pic>
        <p:nvPicPr>
          <p:cNvPr id="10" name="Image 1" descr="/mnt/user-data/uploads/1788717327368_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487570" y="2155232"/>
            <a:ext cx="3216554" cy="2373801"/>
          </a:xfrm>
          <a:prstGeom prst="rect">
            <a:avLst/>
          </a:prstGeom>
        </p:spPr>
      </p:pic>
      <p:sp>
        <p:nvSpPr>
          <p:cNvPr id="11" name="Shape 7"/>
          <p:cNvSpPr/>
          <p:nvPr/>
        </p:nvSpPr>
        <p:spPr>
          <a:xfrm>
            <a:off x="4542434" y="5093208"/>
            <a:ext cx="3106826" cy="0"/>
          </a:xfrm>
          <a:prstGeom prst="line">
            <a:avLst/>
          </a:prstGeom>
          <a:noFill/>
          <a:ln w="12700">
            <a:solidFill>
              <a:srgbClr val="263252"/>
            </a:solidFill>
            <a:prstDash val="solid"/>
          </a:ln>
        </p:spPr>
      </p:sp>
      <p:sp>
        <p:nvSpPr>
          <p:cNvPr id="12" name="Text 8"/>
          <p:cNvSpPr/>
          <p:nvPr/>
        </p:nvSpPr>
        <p:spPr>
          <a:xfrm>
            <a:off x="4542434" y="5202936"/>
            <a:ext cx="3125114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1000" dirty="0">
                <a:solidFill>
                  <a:srgbClr val="8B96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shared OIDC login screen used by both the Web and Admin frontends before reaching any protected route.</a:t>
            </a:r>
            <a:endParaRPr lang="en-US" sz="1000" dirty="0"/>
          </a:p>
        </p:txBody>
      </p:sp>
      <p:sp>
        <p:nvSpPr>
          <p:cNvPr id="13" name="Shape 9"/>
          <p:cNvSpPr/>
          <p:nvPr/>
        </p:nvSpPr>
        <p:spPr>
          <a:xfrm>
            <a:off x="8143037" y="1554480"/>
            <a:ext cx="3545738" cy="4754880"/>
          </a:xfrm>
          <a:prstGeom prst="roundRect">
            <a:avLst>
              <a:gd name="adj" fmla="val 2063"/>
            </a:avLst>
          </a:prstGeom>
          <a:solidFill>
            <a:srgbClr val="141D2E"/>
          </a:solidFill>
          <a:ln w="12700">
            <a:solidFill>
              <a:srgbClr val="263252"/>
            </a:solidFill>
            <a:prstDash val="solid"/>
          </a:ln>
          <a:effectLst>
            <a:outerShdw blurRad="101600" dist="38100" dir="5400000" algn="bl" rotWithShape="0">
              <a:srgbClr val="000000">
                <a:alpha val="35000"/>
              </a:srgbClr>
            </a:outerShdw>
          </a:effectLst>
        </p:spPr>
      </p:sp>
      <p:pic>
        <p:nvPicPr>
          <p:cNvPr id="14" name="Image 2" descr="/mnt/user-data/uploads/1788717339516_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307629" y="2923609"/>
            <a:ext cx="3216554" cy="837047"/>
          </a:xfrm>
          <a:prstGeom prst="rect">
            <a:avLst/>
          </a:prstGeom>
        </p:spPr>
      </p:pic>
      <p:sp>
        <p:nvSpPr>
          <p:cNvPr id="15" name="Shape 10"/>
          <p:cNvSpPr/>
          <p:nvPr/>
        </p:nvSpPr>
        <p:spPr>
          <a:xfrm>
            <a:off x="8362493" y="5093208"/>
            <a:ext cx="3106826" cy="0"/>
          </a:xfrm>
          <a:prstGeom prst="line">
            <a:avLst/>
          </a:prstGeom>
          <a:noFill/>
          <a:ln w="12700">
            <a:solidFill>
              <a:srgbClr val="263252"/>
            </a:solidFill>
            <a:prstDash val="solid"/>
          </a:ln>
        </p:spPr>
      </p:sp>
      <p:sp>
        <p:nvSpPr>
          <p:cNvPr id="16" name="Text 11"/>
          <p:cNvSpPr/>
          <p:nvPr/>
        </p:nvSpPr>
        <p:spPr>
          <a:xfrm>
            <a:off x="8362493" y="5202936"/>
            <a:ext cx="3125114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1000" dirty="0">
                <a:solidFill>
                  <a:srgbClr val="8B96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RabbitMQ Management UI (NodePort 31672) — the async message broker behind order and payment events.</a:t>
            </a:r>
            <a:endParaRPr lang="en-US" sz="1000" dirty="0"/>
          </a:p>
        </p:txBody>
      </p:sp>
      <p:sp>
        <p:nvSpPr>
          <p:cNvPr id="17" name="Shape 12"/>
          <p:cNvSpPr/>
          <p:nvPr/>
        </p:nvSpPr>
        <p:spPr>
          <a:xfrm>
            <a:off x="502920" y="6473952"/>
            <a:ext cx="64008" cy="64008"/>
          </a:xfrm>
          <a:prstGeom prst="ellipse">
            <a:avLst/>
          </a:prstGeom>
          <a:solidFill>
            <a:srgbClr val="2BE0BE"/>
          </a:solidFill>
          <a:ln/>
        </p:spPr>
      </p:sp>
      <p:sp>
        <p:nvSpPr>
          <p:cNvPr id="18" name="Text 13"/>
          <p:cNvSpPr/>
          <p:nvPr/>
        </p:nvSpPr>
        <p:spPr>
          <a:xfrm>
            <a:off x="649224" y="635508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8B96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Mina John Emil</a:t>
            </a:r>
            <a:endParaRPr lang="en-US" sz="900" dirty="0"/>
          </a:p>
        </p:txBody>
      </p:sp>
      <p:sp>
        <p:nvSpPr>
          <p:cNvPr id="19" name="Text 14"/>
          <p:cNvSpPr/>
          <p:nvPr/>
        </p:nvSpPr>
        <p:spPr>
          <a:xfrm>
            <a:off x="11231575" y="635508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B96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502920"/>
            <a:ext cx="1331366" cy="329184"/>
          </a:xfrm>
          <a:prstGeom prst="roundRect">
            <a:avLst>
              <a:gd name="adj" fmla="val 25000"/>
            </a:avLst>
          </a:prstGeom>
          <a:solidFill>
            <a:srgbClr val="2BE0BE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502920"/>
            <a:ext cx="133136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kern="0" spc="100" dirty="0">
                <a:solidFill>
                  <a:srgbClr val="0724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TESTIMONIALS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02920" y="960120"/>
            <a:ext cx="11185855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EDF1F7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What people are saying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502920" y="1444752"/>
            <a:ext cx="1118585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8B96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Illustrative sample quotes for portfolio presentation purposes.</a:t>
            </a:r>
            <a:endParaRPr lang="en-US" sz="1050" dirty="0"/>
          </a:p>
        </p:txBody>
      </p:sp>
      <p:sp>
        <p:nvSpPr>
          <p:cNvPr id="6" name="Shape 4"/>
          <p:cNvSpPr/>
          <p:nvPr/>
        </p:nvSpPr>
        <p:spPr>
          <a:xfrm>
            <a:off x="502920" y="1965960"/>
            <a:ext cx="5212080" cy="4160520"/>
          </a:xfrm>
          <a:prstGeom prst="roundRect">
            <a:avLst>
              <a:gd name="adj" fmla="val 1758"/>
            </a:avLst>
          </a:prstGeom>
          <a:solidFill>
            <a:srgbClr val="141D2E"/>
          </a:solidFill>
          <a:ln w="12700">
            <a:solidFill>
              <a:srgbClr val="263252"/>
            </a:solidFill>
            <a:prstDash val="solid"/>
          </a:ln>
          <a:effectLst>
            <a:outerShdw blurRad="101600" dist="38100" dir="5400000" algn="bl" rotWithShape="0">
              <a:srgbClr val="000000">
                <a:alpha val="35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685800" y="201168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800" b="1" dirty="0">
                <a:solidFill>
                  <a:srgbClr val="2BE0BE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“</a:t>
            </a:r>
            <a:endParaRPr lang="en-US" sz="4800" dirty="0"/>
          </a:p>
        </p:txBody>
      </p:sp>
      <p:sp>
        <p:nvSpPr>
          <p:cNvPr id="8" name="Text 6"/>
          <p:cNvSpPr/>
          <p:nvPr/>
        </p:nvSpPr>
        <p:spPr>
          <a:xfrm>
            <a:off x="822960" y="2743200"/>
            <a:ext cx="457200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350" i="1" dirty="0">
                <a:solidFill>
                  <a:srgbClr val="EDF1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Mina's 3-tier microservices project was one of the strongest in the DevOps track. He didn't just get Kubernetes running — he understood the Namespaces, NetworkPolicies, and GitOps sync behind it, and could explain every decision he made.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822960" y="4892040"/>
            <a:ext cx="4572000" cy="0"/>
          </a:xfrm>
          <a:prstGeom prst="line">
            <a:avLst/>
          </a:prstGeom>
          <a:noFill/>
          <a:ln w="12700">
            <a:solidFill>
              <a:srgbClr val="263252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822960" y="5074920"/>
            <a:ext cx="566928" cy="566928"/>
          </a:xfrm>
          <a:prstGeom prst="ellipse">
            <a:avLst/>
          </a:prstGeom>
          <a:solidFill>
            <a:srgbClr val="1A2540"/>
          </a:solidFill>
          <a:ln w="19050">
            <a:solidFill>
              <a:srgbClr val="2BE0BE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22960" y="507492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2BE0BE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AS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1508760" y="5120640"/>
            <a:ext cx="3931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EDF1F7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Ashour Yasser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1508760" y="5413248"/>
            <a:ext cx="3931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8B96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DevOps Instructor — IT-Gate Training Program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5989320" y="1965960"/>
            <a:ext cx="5699455" cy="4160520"/>
          </a:xfrm>
          <a:prstGeom prst="roundRect">
            <a:avLst>
              <a:gd name="adj" fmla="val 1758"/>
            </a:avLst>
          </a:prstGeom>
          <a:solidFill>
            <a:srgbClr val="141D2E"/>
          </a:solidFill>
          <a:ln w="12700">
            <a:solidFill>
              <a:srgbClr val="263252"/>
            </a:solidFill>
            <a:prstDash val="solid"/>
          </a:ln>
          <a:effectLst>
            <a:outerShdw blurRad="101600" dist="38100" dir="5400000" algn="bl" rotWithShape="0">
              <a:srgbClr val="000000">
                <a:alpha val="35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6263640" y="2148840"/>
            <a:ext cx="51508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kern="0" spc="120" dirty="0">
                <a:solidFill>
                  <a:srgbClr val="2BE0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LINKEDIN COMMENTS — .NET MICROSERVICES PROJECT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6245352" y="2651760"/>
            <a:ext cx="5187391" cy="1600200"/>
          </a:xfrm>
          <a:prstGeom prst="roundRect">
            <a:avLst>
              <a:gd name="adj" fmla="val 4571"/>
            </a:avLst>
          </a:prstGeom>
          <a:solidFill>
            <a:srgbClr val="1A2540"/>
          </a:solidFill>
          <a:ln w="12700">
            <a:solidFill>
              <a:srgbClr val="263252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428232" y="2834640"/>
            <a:ext cx="457200" cy="457200"/>
          </a:xfrm>
          <a:prstGeom prst="ellipse">
            <a:avLst/>
          </a:prstGeom>
          <a:solidFill>
            <a:srgbClr val="141D2E"/>
          </a:solidFill>
          <a:ln w="15875">
            <a:solidFill>
              <a:srgbClr val="2BE0BE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428232" y="28346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2BE0BE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YA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6976872" y="2798064"/>
            <a:ext cx="441929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EDF1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Youssef Adel</a:t>
            </a:r>
            <a:endParaRPr lang="en-US" sz="1150" dirty="0"/>
          </a:p>
        </p:txBody>
      </p:sp>
      <p:sp>
        <p:nvSpPr>
          <p:cNvPr id="20" name="Text 18"/>
          <p:cNvSpPr/>
          <p:nvPr/>
        </p:nvSpPr>
        <p:spPr>
          <a:xfrm>
            <a:off x="6976872" y="3035808"/>
            <a:ext cx="4419295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2BE0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 &amp; DevOps Engineer</a:t>
            </a:r>
            <a:endParaRPr lang="en-US" sz="950" dirty="0"/>
          </a:p>
        </p:txBody>
      </p:sp>
      <p:sp>
        <p:nvSpPr>
          <p:cNvPr id="21" name="Text 19"/>
          <p:cNvSpPr/>
          <p:nvPr/>
        </p:nvSpPr>
        <p:spPr>
          <a:xfrm>
            <a:off x="6428232" y="3310128"/>
            <a:ext cx="487649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8B96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Impressive pipeline design — parallel Jenkins and Azure DevOps stages plus a clean Argo CD sync across 45 resources. Production-grade work.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6245352" y="4480560"/>
            <a:ext cx="5187391" cy="1600200"/>
          </a:xfrm>
          <a:prstGeom prst="roundRect">
            <a:avLst>
              <a:gd name="adj" fmla="val 4571"/>
            </a:avLst>
          </a:prstGeom>
          <a:solidFill>
            <a:srgbClr val="1A2540"/>
          </a:solidFill>
          <a:ln w="12700">
            <a:solidFill>
              <a:srgbClr val="263252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6428232" y="4663440"/>
            <a:ext cx="457200" cy="457200"/>
          </a:xfrm>
          <a:prstGeom prst="ellipse">
            <a:avLst/>
          </a:prstGeom>
          <a:solidFill>
            <a:srgbClr val="141D2E"/>
          </a:solidFill>
          <a:ln w="15875">
            <a:solidFill>
              <a:srgbClr val="2BE0BE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428232" y="46634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2BE0BE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SM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6976872" y="4626864"/>
            <a:ext cx="441929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EDF1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Sara Mostafa</a:t>
            </a:r>
            <a:endParaRPr lang="en-US" sz="1150" dirty="0"/>
          </a:p>
        </p:txBody>
      </p:sp>
      <p:sp>
        <p:nvSpPr>
          <p:cNvPr id="26" name="Text 24"/>
          <p:cNvSpPr/>
          <p:nvPr/>
        </p:nvSpPr>
        <p:spPr>
          <a:xfrm>
            <a:off x="6976872" y="4864608"/>
            <a:ext cx="4419295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2BE0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.NET Backend Developer</a:t>
            </a:r>
            <a:endParaRPr lang="en-US" sz="950" dirty="0"/>
          </a:p>
        </p:txBody>
      </p:sp>
      <p:sp>
        <p:nvSpPr>
          <p:cNvPr id="27" name="Text 25"/>
          <p:cNvSpPr/>
          <p:nvPr/>
        </p:nvSpPr>
        <p:spPr>
          <a:xfrm>
            <a:off x="6428232" y="5138928"/>
            <a:ext cx="487649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8B96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is exactly how a microservices delivery pipeline should look. The Helm charts and environment configs are really well organized!</a:t>
            </a:r>
            <a:endParaRPr lang="en-US" sz="1050" dirty="0"/>
          </a:p>
        </p:txBody>
      </p:sp>
      <p:sp>
        <p:nvSpPr>
          <p:cNvPr id="28" name="Shape 26"/>
          <p:cNvSpPr/>
          <p:nvPr/>
        </p:nvSpPr>
        <p:spPr>
          <a:xfrm>
            <a:off x="502920" y="6473952"/>
            <a:ext cx="64008" cy="64008"/>
          </a:xfrm>
          <a:prstGeom prst="ellipse">
            <a:avLst/>
          </a:prstGeom>
          <a:solidFill>
            <a:srgbClr val="2BE0BE"/>
          </a:solidFill>
          <a:ln/>
        </p:spPr>
      </p:sp>
      <p:sp>
        <p:nvSpPr>
          <p:cNvPr id="29" name="Text 27"/>
          <p:cNvSpPr/>
          <p:nvPr/>
        </p:nvSpPr>
        <p:spPr>
          <a:xfrm>
            <a:off x="649224" y="635508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8B96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Mina John Emil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11231575" y="635508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B96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502920"/>
            <a:ext cx="2048256" cy="329184"/>
          </a:xfrm>
          <a:prstGeom prst="roundRect">
            <a:avLst>
              <a:gd name="adj" fmla="val 25000"/>
            </a:avLst>
          </a:prstGeom>
          <a:solidFill>
            <a:srgbClr val="2BE0BE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502920"/>
            <a:ext cx="204825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kern="0" spc="100" dirty="0">
                <a:solidFill>
                  <a:srgbClr val="0724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 CAN HELP WITH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502920" y="1371600"/>
            <a:ext cx="5432908" cy="2103120"/>
          </a:xfrm>
          <a:prstGeom prst="roundRect">
            <a:avLst>
              <a:gd name="adj" fmla="val 3478"/>
            </a:avLst>
          </a:prstGeom>
          <a:solidFill>
            <a:srgbClr val="141D2E"/>
          </a:solidFill>
          <a:ln w="12700">
            <a:solidFill>
              <a:srgbClr val="263252"/>
            </a:solidFill>
            <a:prstDash val="solid"/>
          </a:ln>
          <a:effectLst>
            <a:outerShdw blurRad="101600" dist="38100" dir="5400000" algn="bl" rotWithShape="0">
              <a:srgbClr val="000000">
                <a:alpha val="3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77240" y="1645920"/>
            <a:ext cx="566928" cy="566928"/>
          </a:xfrm>
          <a:prstGeom prst="ellipse">
            <a:avLst/>
          </a:prstGeom>
          <a:solidFill>
            <a:srgbClr val="1A2540"/>
          </a:solidFill>
          <a:ln w="19050">
            <a:solidFill>
              <a:srgbClr val="2BE0BE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77240" y="164592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2BE0BE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1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1508760" y="1664208"/>
            <a:ext cx="41984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EDF1F7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CI/CD Pipeline Design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777240" y="2423160"/>
            <a:ext cx="488426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8B96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automated Build → Test → Deploy pipelines with Jenkins, Azure DevOps, or GitHub Actions.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6255868" y="1371600"/>
            <a:ext cx="5432908" cy="2103120"/>
          </a:xfrm>
          <a:prstGeom prst="roundRect">
            <a:avLst>
              <a:gd name="adj" fmla="val 3478"/>
            </a:avLst>
          </a:prstGeom>
          <a:solidFill>
            <a:srgbClr val="141D2E"/>
          </a:solidFill>
          <a:ln w="12700">
            <a:solidFill>
              <a:srgbClr val="263252"/>
            </a:solidFill>
            <a:prstDash val="solid"/>
          </a:ln>
          <a:effectLst>
            <a:outerShdw blurRad="101600" dist="38100" dir="5400000" algn="bl" rotWithShape="0">
              <a:srgbClr val="000000">
                <a:alpha val="35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6530188" y="1645920"/>
            <a:ext cx="566928" cy="566928"/>
          </a:xfrm>
          <a:prstGeom prst="ellipse">
            <a:avLst/>
          </a:prstGeom>
          <a:solidFill>
            <a:srgbClr val="1A2540"/>
          </a:solidFill>
          <a:ln w="19050">
            <a:solidFill>
              <a:srgbClr val="2BE0BE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530188" y="164592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2BE0BE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2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7261708" y="1664208"/>
            <a:ext cx="41984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EDF1F7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Kubernetes &amp; GitOps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6530188" y="2423160"/>
            <a:ext cx="488426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8B96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 and operate workloads on Kubernetes/OpenShift with Helm and Argo CD zero-touch delivery.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502920" y="3794760"/>
            <a:ext cx="5432908" cy="2103120"/>
          </a:xfrm>
          <a:prstGeom prst="roundRect">
            <a:avLst>
              <a:gd name="adj" fmla="val 3478"/>
            </a:avLst>
          </a:prstGeom>
          <a:solidFill>
            <a:srgbClr val="141D2E"/>
          </a:solidFill>
          <a:ln w="12700">
            <a:solidFill>
              <a:srgbClr val="263252"/>
            </a:solidFill>
            <a:prstDash val="solid"/>
          </a:ln>
          <a:effectLst>
            <a:outerShdw blurRad="101600" dist="38100" dir="5400000" algn="bl" rotWithShape="0">
              <a:srgbClr val="000000">
                <a:alpha val="35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777240" y="4069080"/>
            <a:ext cx="566928" cy="566928"/>
          </a:xfrm>
          <a:prstGeom prst="ellipse">
            <a:avLst/>
          </a:prstGeom>
          <a:solidFill>
            <a:srgbClr val="1A2540"/>
          </a:solidFill>
          <a:ln w="19050">
            <a:solidFill>
              <a:srgbClr val="2BE0BE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77240" y="406908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2BE0BE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3</a:t>
            </a:r>
            <a:endParaRPr lang="en-US" sz="2000" dirty="0"/>
          </a:p>
        </p:txBody>
      </p:sp>
      <p:sp>
        <p:nvSpPr>
          <p:cNvPr id="17" name="Text 15"/>
          <p:cNvSpPr/>
          <p:nvPr/>
        </p:nvSpPr>
        <p:spPr>
          <a:xfrm>
            <a:off x="1508760" y="4087368"/>
            <a:ext cx="41984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EDF1F7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Cloud Migration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777240" y="4846320"/>
            <a:ext cx="488426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8B96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Move workloads to AWS or Azure — EKS, ECR, RDS, networking, and cost-aware architecture.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6255868" y="3794760"/>
            <a:ext cx="5432908" cy="2103120"/>
          </a:xfrm>
          <a:prstGeom prst="roundRect">
            <a:avLst>
              <a:gd name="adj" fmla="val 3478"/>
            </a:avLst>
          </a:prstGeom>
          <a:solidFill>
            <a:srgbClr val="141D2E"/>
          </a:solidFill>
          <a:ln w="12700">
            <a:solidFill>
              <a:srgbClr val="263252"/>
            </a:solidFill>
            <a:prstDash val="solid"/>
          </a:ln>
          <a:effectLst>
            <a:outerShdw blurRad="101600" dist="38100" dir="5400000" algn="bl" rotWithShape="0">
              <a:srgbClr val="000000">
                <a:alpha val="35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6530188" y="4069080"/>
            <a:ext cx="566928" cy="566928"/>
          </a:xfrm>
          <a:prstGeom prst="ellipse">
            <a:avLst/>
          </a:prstGeom>
          <a:solidFill>
            <a:srgbClr val="1A2540"/>
          </a:solidFill>
          <a:ln w="19050">
            <a:solidFill>
              <a:srgbClr val="2BE0BE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530188" y="406908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2BE0BE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4</a:t>
            </a:r>
            <a:endParaRPr lang="en-US" sz="2000" dirty="0"/>
          </a:p>
        </p:txBody>
      </p:sp>
      <p:sp>
        <p:nvSpPr>
          <p:cNvPr id="22" name="Text 20"/>
          <p:cNvSpPr/>
          <p:nvPr/>
        </p:nvSpPr>
        <p:spPr>
          <a:xfrm>
            <a:off x="7261708" y="4087368"/>
            <a:ext cx="41984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EDF1F7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MLOps &amp; AI Agents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6530188" y="4846320"/>
            <a:ext cx="488426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8B96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Automate model deployment lifecycles and build LangChain-based agents with RAG.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502920" y="6473952"/>
            <a:ext cx="64008" cy="64008"/>
          </a:xfrm>
          <a:prstGeom prst="ellipse">
            <a:avLst/>
          </a:prstGeom>
          <a:solidFill>
            <a:srgbClr val="2BE0BE"/>
          </a:solidFill>
          <a:ln/>
        </p:spPr>
      </p:sp>
      <p:sp>
        <p:nvSpPr>
          <p:cNvPr id="25" name="Text 23"/>
          <p:cNvSpPr/>
          <p:nvPr/>
        </p:nvSpPr>
        <p:spPr>
          <a:xfrm>
            <a:off x="649224" y="635508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8B96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Mina John Emil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11231575" y="635508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B96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9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548640"/>
            <a:ext cx="1331366" cy="329184"/>
          </a:xfrm>
          <a:prstGeom prst="roundRect">
            <a:avLst>
              <a:gd name="adj" fmla="val 25000"/>
            </a:avLst>
          </a:prstGeom>
          <a:solidFill>
            <a:srgbClr val="2BE0BE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548640"/>
            <a:ext cx="133136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kern="0" spc="100" dirty="0">
                <a:solidFill>
                  <a:srgbClr val="0724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 IN TOUCH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02920" y="1097280"/>
            <a:ext cx="69494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EDF1F7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Open to DevOps, MLOps, and cloud infrastructure roles.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502920" y="1965960"/>
            <a:ext cx="6766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8B96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fastest way to reach me is email — happy to talk through any project above in more detail.</a:t>
            </a:r>
            <a:endParaRPr lang="en-US" sz="1350" dirty="0"/>
          </a:p>
        </p:txBody>
      </p:sp>
      <p:sp>
        <p:nvSpPr>
          <p:cNvPr id="6" name="Shape 4"/>
          <p:cNvSpPr/>
          <p:nvPr/>
        </p:nvSpPr>
        <p:spPr>
          <a:xfrm>
            <a:off x="472745" y="2468880"/>
            <a:ext cx="6675120" cy="676656"/>
          </a:xfrm>
          <a:prstGeom prst="roundRect">
            <a:avLst>
              <a:gd name="adj" fmla="val 10811"/>
            </a:avLst>
          </a:prstGeom>
          <a:solidFill>
            <a:srgbClr val="141D2E"/>
          </a:solidFill>
          <a:ln w="12700">
            <a:solidFill>
              <a:srgbClr val="263252"/>
            </a:solidFill>
            <a:prstDash val="solid"/>
          </a:ln>
          <a:effectLst>
            <a:outerShdw blurRad="101600" dist="38100" dir="5400000" algn="bl" rotWithShape="0">
              <a:srgbClr val="000000">
                <a:alpha val="35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747065" y="256032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100" dirty="0">
                <a:solidFill>
                  <a:srgbClr val="2BE0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EMAIL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747065" y="2798064"/>
            <a:ext cx="6035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EDF1F7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3"/>
              </a:rPr>
              <a:t>minajohn949@gmail.com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472745" y="3220102"/>
            <a:ext cx="6675120" cy="676656"/>
          </a:xfrm>
          <a:prstGeom prst="roundRect">
            <a:avLst>
              <a:gd name="adj" fmla="val 10811"/>
            </a:avLst>
          </a:prstGeom>
          <a:solidFill>
            <a:srgbClr val="141D2E"/>
          </a:solidFill>
          <a:ln w="12700">
            <a:solidFill>
              <a:srgbClr val="263252"/>
            </a:solidFill>
            <a:prstDash val="solid"/>
          </a:ln>
          <a:effectLst>
            <a:outerShdw blurRad="101600" dist="38100" dir="5400000" algn="bl" rotWithShape="0">
              <a:srgbClr val="000000">
                <a:alpha val="35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747065" y="331154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100" dirty="0">
                <a:solidFill>
                  <a:srgbClr val="2BE0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747065" y="3549286"/>
            <a:ext cx="6035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EDF1F7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4"/>
              </a:rPr>
              <a:t>github.com/mina-john-</a:t>
            </a:r>
            <a:r>
              <a:rPr lang="en-US" sz="1300" dirty="0" err="1">
                <a:solidFill>
                  <a:srgbClr val="EDF1F7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4"/>
              </a:rPr>
              <a:t>emil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472745" y="3976226"/>
            <a:ext cx="6675120" cy="676656"/>
          </a:xfrm>
          <a:prstGeom prst="roundRect">
            <a:avLst>
              <a:gd name="adj" fmla="val 10811"/>
            </a:avLst>
          </a:prstGeom>
          <a:solidFill>
            <a:srgbClr val="141D2E"/>
          </a:solidFill>
          <a:ln w="12700">
            <a:solidFill>
              <a:srgbClr val="263252"/>
            </a:solidFill>
            <a:prstDash val="solid"/>
          </a:ln>
          <a:effectLst>
            <a:outerShdw blurRad="101600" dist="38100" dir="5400000" algn="bl" rotWithShape="0">
              <a:srgbClr val="000000">
                <a:alpha val="35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747065" y="4067666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100" dirty="0">
                <a:solidFill>
                  <a:srgbClr val="2BE0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LINKEDIN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747065" y="4305410"/>
            <a:ext cx="6035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EDF1F7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5"/>
              </a:rPr>
              <a:t>linkedin.com/in/mina-john-9201aa320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472745" y="5491160"/>
            <a:ext cx="6675120" cy="676656"/>
          </a:xfrm>
          <a:prstGeom prst="roundRect">
            <a:avLst>
              <a:gd name="adj" fmla="val 10811"/>
            </a:avLst>
          </a:prstGeom>
          <a:solidFill>
            <a:srgbClr val="141D2E"/>
          </a:solidFill>
          <a:ln w="12700">
            <a:solidFill>
              <a:srgbClr val="263252"/>
            </a:solidFill>
            <a:prstDash val="solid"/>
          </a:ln>
          <a:effectLst>
            <a:outerShdw blurRad="101600" dist="38100" dir="5400000" algn="bl" rotWithShape="0">
              <a:srgbClr val="000000">
                <a:alpha val="35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747065" y="55826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100" dirty="0">
                <a:solidFill>
                  <a:srgbClr val="2BE0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LOCATION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747065" y="5820344"/>
            <a:ext cx="6035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EDF1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Cairo, Egypt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8001000" y="1097280"/>
            <a:ext cx="3657600" cy="5257800"/>
          </a:xfrm>
          <a:prstGeom prst="roundRect">
            <a:avLst>
              <a:gd name="adj" fmla="val 2000"/>
            </a:avLst>
          </a:prstGeom>
          <a:solidFill>
            <a:srgbClr val="141D2E"/>
          </a:solidFill>
          <a:ln w="12700">
            <a:solidFill>
              <a:srgbClr val="263252"/>
            </a:solidFill>
            <a:prstDash val="solid"/>
          </a:ln>
          <a:effectLst>
            <a:outerShdw blurRad="101600" dist="38100" dir="5400000" algn="bl" rotWithShape="0">
              <a:srgbClr val="000000">
                <a:alpha val="35000"/>
              </a:srgbClr>
            </a:outerShdw>
          </a:effectLst>
        </p:spPr>
      </p:sp>
      <p:pic>
        <p:nvPicPr>
          <p:cNvPr id="19" name="Image 0" descr="/home/claude/unpacked/ppt/media/image1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732520" y="1600200"/>
            <a:ext cx="2194560" cy="2194560"/>
          </a:xfrm>
          <a:prstGeom prst="ellipse">
            <a:avLst/>
          </a:prstGeom>
        </p:spPr>
      </p:pic>
      <p:sp>
        <p:nvSpPr>
          <p:cNvPr id="20" name="Shape 17"/>
          <p:cNvSpPr/>
          <p:nvPr/>
        </p:nvSpPr>
        <p:spPr>
          <a:xfrm>
            <a:off x="8732520" y="1600200"/>
            <a:ext cx="2194560" cy="2194560"/>
          </a:xfrm>
          <a:prstGeom prst="ellipse">
            <a:avLst/>
          </a:prstGeom>
          <a:ln w="25400">
            <a:solidFill>
              <a:srgbClr val="2BE0BE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8183880" y="3931920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EDF1F7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Mina John Emil</a:t>
            </a:r>
            <a:endParaRPr lang="en-US" sz="1500" dirty="0"/>
          </a:p>
        </p:txBody>
      </p:sp>
      <p:sp>
        <p:nvSpPr>
          <p:cNvPr id="22" name="Text 19"/>
          <p:cNvSpPr/>
          <p:nvPr/>
        </p:nvSpPr>
        <p:spPr>
          <a:xfrm>
            <a:off x="8183880" y="4251960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2BE0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DevOps &amp; MLOps Engineer</a:t>
            </a:r>
            <a:endParaRPr lang="en-US" sz="1100" dirty="0"/>
          </a:p>
        </p:txBody>
      </p:sp>
      <p:sp>
        <p:nvSpPr>
          <p:cNvPr id="23" name="Shape 20"/>
          <p:cNvSpPr/>
          <p:nvPr/>
        </p:nvSpPr>
        <p:spPr>
          <a:xfrm>
            <a:off x="8366760" y="4709160"/>
            <a:ext cx="2560320" cy="0"/>
          </a:xfrm>
          <a:prstGeom prst="line">
            <a:avLst/>
          </a:prstGeom>
          <a:noFill/>
          <a:ln w="12700">
            <a:solidFill>
              <a:srgbClr val="263252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8275320" y="4892040"/>
            <a:ext cx="27432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100" i="1" dirty="0">
                <a:solidFill>
                  <a:srgbClr val="8B96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let's build something reliable together.</a:t>
            </a:r>
            <a:endParaRPr lang="en-US" sz="1100" dirty="0"/>
          </a:p>
        </p:txBody>
      </p:sp>
      <p:sp>
        <p:nvSpPr>
          <p:cNvPr id="25" name="Shape 22"/>
          <p:cNvSpPr/>
          <p:nvPr/>
        </p:nvSpPr>
        <p:spPr>
          <a:xfrm>
            <a:off x="502920" y="6473952"/>
            <a:ext cx="64008" cy="64008"/>
          </a:xfrm>
          <a:prstGeom prst="ellipse">
            <a:avLst/>
          </a:prstGeom>
          <a:solidFill>
            <a:srgbClr val="2BE0BE"/>
          </a:solidFill>
          <a:ln/>
        </p:spPr>
      </p:sp>
      <p:sp>
        <p:nvSpPr>
          <p:cNvPr id="26" name="Text 23"/>
          <p:cNvSpPr/>
          <p:nvPr/>
        </p:nvSpPr>
        <p:spPr>
          <a:xfrm>
            <a:off x="649224" y="635508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8B96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Mina John Emil</a:t>
            </a:r>
            <a:endParaRPr lang="en-US" sz="900" dirty="0"/>
          </a:p>
        </p:txBody>
      </p:sp>
      <p:sp>
        <p:nvSpPr>
          <p:cNvPr id="27" name="Text 24"/>
          <p:cNvSpPr/>
          <p:nvPr/>
        </p:nvSpPr>
        <p:spPr>
          <a:xfrm>
            <a:off x="11231575" y="635508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B96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900" dirty="0"/>
          </a:p>
        </p:txBody>
      </p:sp>
      <p:sp>
        <p:nvSpPr>
          <p:cNvPr id="28" name="Shape 13">
            <a:extLst>
              <a:ext uri="{FF2B5EF4-FFF2-40B4-BE49-F238E27FC236}">
                <a16:creationId xmlns:a16="http://schemas.microsoft.com/office/drawing/2014/main" id="{173A8576-3E0D-4D08-8703-3E2CF7C4F1C9}"/>
              </a:ext>
            </a:extLst>
          </p:cNvPr>
          <p:cNvSpPr/>
          <p:nvPr/>
        </p:nvSpPr>
        <p:spPr>
          <a:xfrm>
            <a:off x="472745" y="4738477"/>
            <a:ext cx="6675120" cy="676656"/>
          </a:xfrm>
          <a:prstGeom prst="roundRect">
            <a:avLst>
              <a:gd name="adj" fmla="val 10811"/>
            </a:avLst>
          </a:prstGeom>
          <a:solidFill>
            <a:srgbClr val="141D2E"/>
          </a:solidFill>
          <a:ln w="12700">
            <a:solidFill>
              <a:srgbClr val="263252"/>
            </a:solidFill>
            <a:prstDash val="solid"/>
          </a:ln>
          <a:effectLst>
            <a:outerShdw blurRad="101600" dist="38100" dir="5400000" algn="bl" rotWithShape="0">
              <a:srgbClr val="000000">
                <a:alpha val="35000"/>
              </a:srgbClr>
            </a:outerShdw>
          </a:effectLst>
        </p:spPr>
      </p:sp>
      <p:sp>
        <p:nvSpPr>
          <p:cNvPr id="29" name="Text 14">
            <a:extLst>
              <a:ext uri="{FF2B5EF4-FFF2-40B4-BE49-F238E27FC236}">
                <a16:creationId xmlns:a16="http://schemas.microsoft.com/office/drawing/2014/main" id="{5F84E32D-97D0-4D6E-9942-96D055105825}"/>
              </a:ext>
            </a:extLst>
          </p:cNvPr>
          <p:cNvSpPr/>
          <p:nvPr/>
        </p:nvSpPr>
        <p:spPr>
          <a:xfrm>
            <a:off x="747065" y="4829917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100" dirty="0">
                <a:solidFill>
                  <a:srgbClr val="2BE0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WhatsApp</a:t>
            </a:r>
            <a:endParaRPr lang="en-US" sz="1000" dirty="0"/>
          </a:p>
        </p:txBody>
      </p:sp>
      <p:sp>
        <p:nvSpPr>
          <p:cNvPr id="30" name="Text 15">
            <a:extLst>
              <a:ext uri="{FF2B5EF4-FFF2-40B4-BE49-F238E27FC236}">
                <a16:creationId xmlns:a16="http://schemas.microsoft.com/office/drawing/2014/main" id="{C5E456BE-957C-4A4F-901B-4272214BBA6E}"/>
              </a:ext>
            </a:extLst>
          </p:cNvPr>
          <p:cNvSpPr/>
          <p:nvPr/>
        </p:nvSpPr>
        <p:spPr>
          <a:xfrm>
            <a:off x="747065" y="5067661"/>
            <a:ext cx="6035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EDF1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+201211586256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123</TotalTime>
  <Words>1990</Words>
  <Application>Microsoft Office PowerPoint</Application>
  <PresentationFormat>Widescreen</PresentationFormat>
  <Paragraphs>276</Paragraphs>
  <Slides>16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20" baseType="lpstr">
      <vt:lpstr>Arial</vt:lpstr>
      <vt:lpstr>Bookman Old Style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Mina John Emil Fouad</cp:lastModifiedBy>
  <cp:revision>13</cp:revision>
  <cp:lastPrinted>2026-10-03T16:15:04Z</cp:lastPrinted>
  <dcterms:created xsi:type="dcterms:W3CDTF">2026-09-06T18:00:58Z</dcterms:created>
  <dcterms:modified xsi:type="dcterms:W3CDTF">2026-10-03T16:56:25Z</dcterms:modified>
</cp:coreProperties>
</file>